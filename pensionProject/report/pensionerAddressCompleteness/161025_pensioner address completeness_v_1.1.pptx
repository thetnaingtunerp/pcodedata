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EF8222"/>
    <a:srgbClr val="BC5090"/>
    <a:srgbClr val="FFA600"/>
    <a:srgbClr val="003F5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6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payMe\kokoAung\projects\pensionProject\task\pensionerAddressAnalysisTask\pensioner_address_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961779448621555"/>
          <c:y val="0.19573868638014838"/>
          <c:w val="0.72149122807017541"/>
          <c:h val="0.68933943322483093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3F5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BB8-49E8-9E98-06ABFEC9366C}"/>
              </c:ext>
            </c:extLst>
          </c:dPt>
          <c:dPt>
            <c:idx val="1"/>
            <c:bubble3D val="0"/>
            <c:spPr>
              <a:solidFill>
                <a:srgbClr val="FFA6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BB8-49E8-9E98-06ABFEC9366C}"/>
              </c:ext>
            </c:extLst>
          </c:dPt>
          <c:dPt>
            <c:idx val="2"/>
            <c:bubble3D val="0"/>
            <c:spPr>
              <a:solidFill>
                <a:srgbClr val="BC509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BB8-49E8-9E98-06ABFEC9366C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bg1"/>
                        </a:solidFill>
                        <a:latin typeface="Pyidaungsu Numbers" panose="020B0502040204020203" pitchFamily="34" charset="0"/>
                        <a:ea typeface="+mn-ea"/>
                        <a:cs typeface="Pyidaungsu Numbers" panose="020B0502040204020203" pitchFamily="34" charset="0"/>
                      </a:defRPr>
                    </a:pPr>
                    <a:fld id="{2E7B746E-B7DF-4093-95FA-A3B0CCA00514}" type="CELLRANGE">
                      <a:rPr lang="en-US"/>
                      <a:pPr>
                        <a:defRPr sz="1000" b="1">
                          <a:solidFill>
                            <a:schemeClr val="bg1"/>
                          </a:solidFill>
                          <a:latin typeface="Pyidaungsu Numbers" panose="020B0502040204020203" pitchFamily="34" charset="0"/>
                          <a:cs typeface="Pyidaungsu Numbers" panose="020B0502040204020203" pitchFamily="34" charset="0"/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DA999F4A-F071-4F56-B57C-03762D3A6F69}" type="VALUE">
                      <a:rPr lang="en-US" baseline="0"/>
                      <a:pPr>
                        <a:defRPr sz="1000" b="1">
                          <a:solidFill>
                            <a:schemeClr val="bg1"/>
                          </a:solidFill>
                          <a:latin typeface="Pyidaungsu Numbers" panose="020B0502040204020203" pitchFamily="34" charset="0"/>
                          <a:cs typeface="Pyidaungsu Numbers" panose="020B0502040204020203" pitchFamily="34" charset="0"/>
                        </a:defRPr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Pyidaungsu Numbers" panose="020B0502040204020203" pitchFamily="34" charset="0"/>
                      <a:ea typeface="+mn-ea"/>
                      <a:cs typeface="Pyidaungsu Numbers" panose="020B05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2BB8-49E8-9E98-06ABFEC9366C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bg1"/>
                        </a:solidFill>
                        <a:latin typeface="Pyidaungsu Numbers" panose="020B0502040204020203" pitchFamily="34" charset="0"/>
                        <a:ea typeface="+mn-ea"/>
                        <a:cs typeface="Pyidaungsu Numbers" panose="020B0502040204020203" pitchFamily="34" charset="0"/>
                      </a:defRPr>
                    </a:pPr>
                    <a:fld id="{1840908F-9D4F-484C-A492-4306300349FB}" type="CELLRANGE">
                      <a:rPr lang="en-US"/>
                      <a:pPr>
                        <a:defRPr sz="1000" b="1">
                          <a:solidFill>
                            <a:schemeClr val="bg1"/>
                          </a:solidFill>
                          <a:latin typeface="Pyidaungsu Numbers" panose="020B0502040204020203" pitchFamily="34" charset="0"/>
                          <a:cs typeface="Pyidaungsu Numbers" panose="020B0502040204020203" pitchFamily="34" charset="0"/>
                        </a:defRPr>
                      </a:pPr>
                      <a:t>[CELLRANGE]</a:t>
                    </a:fld>
                    <a:r>
                      <a:rPr lang="en-US" baseline="0"/>
                      <a:t>, </a:t>
                    </a:r>
                    <a:fld id="{8365EDAC-EF79-42C0-9B65-1BB88A9BACD3}" type="VALUE">
                      <a:rPr lang="en-US" baseline="0"/>
                      <a:pPr>
                        <a:defRPr sz="1000" b="1">
                          <a:solidFill>
                            <a:schemeClr val="bg1"/>
                          </a:solidFill>
                          <a:latin typeface="Pyidaungsu Numbers" panose="020B0502040204020203" pitchFamily="34" charset="0"/>
                          <a:cs typeface="Pyidaungsu Numbers" panose="020B0502040204020203" pitchFamily="34" charset="0"/>
                        </a:defRPr>
                      </a:pPr>
                      <a:t>[VALUE]</a:t>
                    </a:fld>
                    <a:endParaRPr lang="en-US" baseline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Pyidaungsu Numbers" panose="020B0502040204020203" pitchFamily="34" charset="0"/>
                      <a:ea typeface="+mn-ea"/>
                      <a:cs typeface="Pyidaungsu Numbers" panose="020B0502040204020203" pitchFamily="34" charset="0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2BB8-49E8-9E98-06ABFEC9366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11013B2A-BF4E-4DFF-81DE-C83718C5CCF1}" type="CELLRANGE">
                      <a:rPr lang="en-US"/>
                      <a:pPr/>
                      <a:t>[CELLRANGE]</a:t>
                    </a:fld>
                    <a:r>
                      <a:rPr lang="en-US" baseline="0"/>
                      <a:t>, </a:t>
                    </a:r>
                    <a:fld id="{15AC2084-58FC-48CD-8ECB-15B63DC1B9A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2BB8-49E8-9E98-06ABFEC9366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yidaungsu Numbers" panose="020B0502040204020203" pitchFamily="34" charset="0"/>
                    <a:ea typeface="+mn-ea"/>
                    <a:cs typeface="Pyidaungsu Numbers" panose="020B0502040204020203" pitchFamily="34" charset="0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Sheet1!$Z$7:$Z$9</c:f>
              <c:strCache>
                <c:ptCount val="3"/>
                <c:pt idx="0">
                  <c:v>လိပ်စာအပြည်အစုံ ပါ</c:v>
                </c:pt>
                <c:pt idx="1">
                  <c:v>လိပ်စာအပြည့်အစုံ မပါ</c:v>
                </c:pt>
                <c:pt idx="2">
                  <c:v>လိပ်စာ လုံးဝမပါ</c:v>
                </c:pt>
              </c:strCache>
            </c:strRef>
          </c:cat>
          <c:val>
            <c:numRef>
              <c:f>Sheet1!$AA$7:$AA$9</c:f>
              <c:numCache>
                <c:formatCode>General</c:formatCode>
                <c:ptCount val="3"/>
                <c:pt idx="0">
                  <c:v>4002</c:v>
                </c:pt>
                <c:pt idx="1">
                  <c:v>23177</c:v>
                </c:pt>
                <c:pt idx="2">
                  <c:v>146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Sheet1!$AB$7:$AB$9</c15:f>
                <c15:dlblRangeCache>
                  <c:ptCount val="3"/>
                  <c:pt idx="0">
                    <c:v>14.6%</c:v>
                  </c:pt>
                  <c:pt idx="1">
                    <c:v>84.8%</c:v>
                  </c:pt>
                  <c:pt idx="2">
                    <c:v>0.5%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2BB8-49E8-9E98-06ABFEC936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E19C8-D9CE-4DB9-9D85-07B16C0195E0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89EBA-2B7B-4749-A654-25A093C66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5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89EBA-2B7B-4749-A654-25A093C66A5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1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CD2A-3471-B681-A224-3FCCBCFC40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DC832-0ED6-7F2A-F9E7-601971213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F0B48-732C-222A-4206-382950A0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6087B-A933-F6C8-A85F-E4CA01DCE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B2E0E-9046-6730-15FE-C92C42FAD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6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9388-B454-860A-F4CF-1C75E0AA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4268-7167-9AA1-9D27-8700C9A5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9A6A1-3AC2-4952-ABB7-B546D53B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F3AAD-FE2F-46A0-9253-30F714CD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7A4C9-F2C9-5537-AB22-BE688675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1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142A-5D40-86C1-6EA7-CD76BEA7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14B95-523C-6879-2A41-CD54938F7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77F79-B890-5053-D397-3F6348142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E48D-50D2-D9C6-58E5-D545B3B04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65AB7-94E5-5AAA-B93F-A55231BB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BFB3D-44B4-287E-43CE-0562CAB3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4312F-AC59-D898-20F7-C54B8F433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11B9F2-0E2F-1CF7-AEFC-A548F548D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AFC2B-D925-EC26-35AC-7B69AA73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310082-A778-C6DF-564B-3F2067F8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2AC7E-1F80-ED7C-90F6-6FD29B67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0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882D-A4CA-F229-DD01-C7E2908AB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97541-F66A-F637-AB4F-CB18CF86F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854BF-099F-5631-8681-E16B1770CB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16A7C-93E0-9282-3294-351AF59FE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394B1D-FF12-DCC3-D6D0-0985D2D54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F3DC5-4F62-216E-4F98-8E2DE74E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E71E17-FB6C-39F9-4F7E-B6889EE6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F2DFB9-D17F-22D5-D128-331DAEDE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8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CF42-0CDC-28DC-BC7F-7F300B01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6EC3E-1BD0-239F-4A82-4258E8254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68834-75BA-64CA-F5D5-B8110994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C56E0-E466-95EB-780B-D521F99CC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9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D9C17-A4C7-59FB-154C-8F0C03220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4045A1-41B6-755D-6F37-2FDE9E5D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E0316-2318-B84A-0179-C623FF42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21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3A28-0A9E-0F2A-6FA1-E06B8A59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98EC2-CBEF-FEBB-85C8-D6160670C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71F7C-4C6E-1A35-ACB7-F0BECB38B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F77CF6-1CA2-CD76-C5A9-364CE760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686CF-1B6B-BEBC-C8EC-69DFFC78F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195FDA-090C-FC2E-1D0B-51907ECC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9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BF18-E6A6-9A46-DB67-78D530EA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BA068-AC65-F410-58EF-8C047A804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6C29D-EFB4-1256-9DBA-3D3B0D7A9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0C8B9B-0973-30AF-D9B2-D51E4E0CB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55F8F9-7ED4-2C90-3D1F-1FBC6345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BC295-12A9-2030-46B8-563DB2541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8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1BE61-CBEF-5E5C-181F-2742C7FA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E4441-34B6-2C64-65D1-7B38BAED9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67F7-5480-02BC-A707-298FC6B0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482BB-1A31-C4DD-96E8-AFACC5FB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0144F-DB8C-6E55-B26E-9343BF3C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02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B0574-E3AE-5111-9F22-F4DEB00C7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1D9E2-22AB-5D59-C4E3-0544CAD35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12BAE-8500-BCD5-5C19-4A4D6BA46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00791-CDE6-24E6-F624-FC505DCB7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36778-41E8-83DD-A855-946CE75A4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3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54EB41-33CF-9C04-5F80-07ECF1310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84AB1-FC32-207D-B1A1-39C0A3ABD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4D4D4-E409-E141-7A5A-4A29564EA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926FD-8947-4B63-B917-76EA426DC8DD}" type="datetimeFigureOut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CC02F-4CEF-077A-1272-39856E304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72F4A-4199-99E6-AE9C-8BE6B3F26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50D7C-1978-46E9-9CAC-D0E2EFB5E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75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FFACDA-526F-7F39-BD87-80975865F7C4}"/>
              </a:ext>
            </a:extLst>
          </p:cNvPr>
          <p:cNvCxnSpPr/>
          <p:nvPr/>
        </p:nvCxnSpPr>
        <p:spPr>
          <a:xfrm>
            <a:off x="612949" y="693336"/>
            <a:ext cx="10992897" cy="0"/>
          </a:xfrm>
          <a:prstGeom prst="line">
            <a:avLst/>
          </a:prstGeom>
          <a:ln w="28575">
            <a:solidFill>
              <a:srgbClr val="EF8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A234C6B-FB12-EF43-1568-734FBBE3E26A}"/>
              </a:ext>
            </a:extLst>
          </p:cNvPr>
          <p:cNvSpPr txBox="1"/>
          <p:nvPr/>
        </p:nvSpPr>
        <p:spPr>
          <a:xfrm>
            <a:off x="612949" y="301448"/>
            <a:ext cx="645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y-MM" dirty="0">
                <a:solidFill>
                  <a:srgbClr val="333333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ပင်စင်စား</a:t>
            </a:r>
            <a:r>
              <a:rPr lang="en-US" dirty="0">
                <a:solidFill>
                  <a:srgbClr val="333333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 </a:t>
            </a:r>
            <a:r>
              <a:rPr lang="my-MM" dirty="0">
                <a:solidFill>
                  <a:srgbClr val="333333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လိပ်စာ ပြည့်စုံမှုအခြေအနေ</a:t>
            </a:r>
            <a:endParaRPr lang="en-US" dirty="0">
              <a:solidFill>
                <a:srgbClr val="333333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29B80EE-1EB0-D540-8ACB-BAA52ADDBF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5787782"/>
              </p:ext>
            </p:extLst>
          </p:nvPr>
        </p:nvGraphicFramePr>
        <p:xfrm>
          <a:off x="1809073" y="1307541"/>
          <a:ext cx="4053840" cy="4242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E09694-D54B-CE90-FE3A-4242AD6D099E}"/>
              </a:ext>
            </a:extLst>
          </p:cNvPr>
          <p:cNvSpPr txBox="1"/>
          <p:nvPr/>
        </p:nvSpPr>
        <p:spPr>
          <a:xfrm>
            <a:off x="7510473" y="1852585"/>
            <a:ext cx="3301553" cy="3073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1000" b="1" dirty="0">
                <a:solidFill>
                  <a:srgbClr val="003F5C"/>
                </a:solidFill>
                <a:latin typeface="Segoe UI" panose="020B0502040204020203" pitchFamily="34" charset="0"/>
              </a:rPr>
              <a:t>လိပ်စာအပြည့်အစုံ ပါ </a:t>
            </a:r>
            <a:r>
              <a:rPr lang="my-MM" sz="1000" dirty="0">
                <a:latin typeface="Segoe UI" panose="020B0502040204020203" pitchFamily="34" charset="0"/>
              </a:rPr>
              <a:t>-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ဖုန်းနံပါတ်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အိမ်လိပ်စာ၊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ကျေးရွာ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ရပ်ကွက်၊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ကျေးရွာအုပ်စု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မြို့၊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မြို့နယ်၊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ပြည်နယ်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တိုင်း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my-MM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အားလုံးပြည့်စုံသည့် ပင်စင်စားအရေအတွက်</a:t>
            </a:r>
            <a:r>
              <a:rPr lang="my-MM" sz="1000" dirty="0">
                <a:latin typeface="Segoe UI" panose="020B0502040204020203" pitchFamily="34" charset="0"/>
              </a:rPr>
              <a:t>။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my-MM" sz="1000" dirty="0">
              <a:latin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1000" b="1" dirty="0">
                <a:solidFill>
                  <a:srgbClr val="FFA600"/>
                </a:solidFill>
                <a:latin typeface="Segoe UI" panose="020B0502040204020203" pitchFamily="34" charset="0"/>
              </a:rPr>
              <a:t>လိပ်စာအပြည့်အစုံ မပါ </a:t>
            </a:r>
            <a:r>
              <a:rPr lang="my-MM" sz="1000" dirty="0">
                <a:latin typeface="Segoe UI" panose="020B0502040204020203" pitchFamily="34" charset="0"/>
              </a:rPr>
              <a:t>-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ဖုန်းနံပါတ်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အိမ်လိပ်စာ၊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ကျေးရွာ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ရပ်ကွက်၊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ကျေးရွာအုပ်စု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မြို့၊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မြို့နယ်၊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ပြည်နယ်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တိုင်း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my-MM" sz="1000" b="1" dirty="0">
                <a:latin typeface="Segoe UI" panose="020B0502040204020203" pitchFamily="34" charset="0"/>
              </a:rPr>
              <a:t>တစ်ခုခု မပြည့်စုံသည့် ပင်စင်စားအရေအတွက်။</a:t>
            </a:r>
            <a:r>
              <a:rPr lang="my-MM" sz="1000" dirty="0">
                <a:latin typeface="Segoe UI" panose="020B0502040204020203" pitchFamily="34" charset="0"/>
              </a:rPr>
              <a:t>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my-MM" sz="1000" dirty="0">
              <a:latin typeface="Segoe UI" panose="020B0502040204020203" pitchFamily="34" charset="0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my-MM" sz="1000" b="1" dirty="0">
                <a:solidFill>
                  <a:srgbClr val="BC5090"/>
                </a:solidFill>
                <a:latin typeface="Segoe UI" panose="020B0502040204020203" pitchFamily="34" charset="0"/>
              </a:rPr>
              <a:t>လိပ်စာ လုံးဝမပါ</a:t>
            </a:r>
            <a:r>
              <a:rPr lang="en-US" sz="1000" b="1" dirty="0">
                <a:solidFill>
                  <a:srgbClr val="BC5090"/>
                </a:solidFill>
                <a:latin typeface="Segoe UI" panose="020B0502040204020203" pitchFamily="34" charset="0"/>
              </a:rPr>
              <a:t> </a:t>
            </a:r>
            <a:r>
              <a:rPr lang="en-US" sz="1000" b="1" dirty="0">
                <a:solidFill>
                  <a:srgbClr val="333333"/>
                </a:solidFill>
                <a:latin typeface="Segoe UI" panose="020B0502040204020203" pitchFamily="34" charset="0"/>
              </a:rPr>
              <a:t>-</a:t>
            </a:r>
            <a:r>
              <a:rPr lang="my-MM" sz="1000" b="1" dirty="0">
                <a:solidFill>
                  <a:srgbClr val="BC5090"/>
                </a:solidFill>
                <a:latin typeface="Segoe UI" panose="020B0502040204020203" pitchFamily="34" charset="0"/>
              </a:rPr>
              <a:t> 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ဖုန်းနံပါတ်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အိမ်လိပ်စာ၊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ကျေးရွာ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ရပ်ကွက်၊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ကျေးရွာအုပ်စု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မြို့၊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မြို့နယ်၊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ပြည်နယ်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my-MM" sz="1000" dirty="0">
                <a:latin typeface="Segoe UI" panose="020B0502040204020203" pitchFamily="34" charset="0"/>
                <a:cs typeface="Segoe UI" panose="020B0502040204020203" pitchFamily="34" charset="0"/>
              </a:rPr>
              <a:t>တိုင်း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r>
              <a:rPr lang="my-MM" sz="1000" b="1" dirty="0">
                <a:latin typeface="Segoe UI" panose="020B0502040204020203" pitchFamily="34" charset="0"/>
              </a:rPr>
              <a:t>အားလုံးမပါသည့် ပင်စင်စားအရေအတွက်။</a:t>
            </a:r>
            <a:endParaRPr lang="en-US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2E96E1-C4CD-CD72-8114-9B70E75B0020}"/>
              </a:ext>
            </a:extLst>
          </p:cNvPr>
          <p:cNvSpPr txBox="1"/>
          <p:nvPr/>
        </p:nvSpPr>
        <p:spPr>
          <a:xfrm>
            <a:off x="5207725" y="2038585"/>
            <a:ext cx="1315329" cy="246221"/>
          </a:xfrm>
          <a:prstGeom prst="rect">
            <a:avLst/>
          </a:prstGeom>
          <a:solidFill>
            <a:srgbClr val="003F5C"/>
          </a:solidFill>
        </p:spPr>
        <p:txBody>
          <a:bodyPr wrap="square" rtlCol="0">
            <a:spAutoFit/>
          </a:bodyPr>
          <a:lstStyle/>
          <a:p>
            <a:r>
              <a:rPr lang="my-MM" sz="1000" dirty="0">
                <a:solidFill>
                  <a:schemeClr val="bg1"/>
                </a:solidFill>
              </a:rPr>
              <a:t>လိပ်စာအပြည့်အစုံ ပါ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C320C-7EEB-FB9A-1725-D8798CF607A4}"/>
              </a:ext>
            </a:extLst>
          </p:cNvPr>
          <p:cNvSpPr txBox="1"/>
          <p:nvPr/>
        </p:nvSpPr>
        <p:spPr>
          <a:xfrm>
            <a:off x="704894" y="4801849"/>
            <a:ext cx="1414801" cy="246221"/>
          </a:xfrm>
          <a:prstGeom prst="rect">
            <a:avLst/>
          </a:prstGeom>
          <a:solidFill>
            <a:srgbClr val="FFA600"/>
          </a:solidFill>
        </p:spPr>
        <p:txBody>
          <a:bodyPr wrap="square" rtlCol="0">
            <a:spAutoFit/>
          </a:bodyPr>
          <a:lstStyle/>
          <a:p>
            <a:r>
              <a:rPr lang="my-MM" sz="1000" dirty="0">
                <a:solidFill>
                  <a:schemeClr val="bg1"/>
                </a:solidFill>
              </a:rPr>
              <a:t>လိပ်စာအပြည့်အစုံ မပါ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8E2841-B816-EFE3-1015-E2F2D9C72BA9}"/>
              </a:ext>
            </a:extLst>
          </p:cNvPr>
          <p:cNvSpPr txBox="1"/>
          <p:nvPr/>
        </p:nvSpPr>
        <p:spPr>
          <a:xfrm>
            <a:off x="1379974" y="2025934"/>
            <a:ext cx="1315329" cy="246220"/>
          </a:xfrm>
          <a:prstGeom prst="rect">
            <a:avLst/>
          </a:prstGeom>
          <a:solidFill>
            <a:srgbClr val="BC5090"/>
          </a:solidFill>
        </p:spPr>
        <p:txBody>
          <a:bodyPr wrap="square" rtlCol="0">
            <a:spAutoFit/>
          </a:bodyPr>
          <a:lstStyle/>
          <a:p>
            <a:r>
              <a:rPr lang="my-MM" sz="1000" dirty="0">
                <a:solidFill>
                  <a:schemeClr val="bg1"/>
                </a:solidFill>
              </a:rPr>
              <a:t>လိပ်စာ လုံးဝမပါ</a:t>
            </a:r>
            <a:endParaRPr lang="en-US" sz="1000" dirty="0">
              <a:solidFill>
                <a:schemeClr val="bg1"/>
              </a:solidFill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2A5FCCF-62EF-ECF3-1518-F5A928F04C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73451" y="2149044"/>
            <a:ext cx="334274" cy="312801"/>
          </a:xfrm>
          <a:prstGeom prst="bentConnector3">
            <a:avLst/>
          </a:prstGeom>
          <a:ln w="28575">
            <a:solidFill>
              <a:srgbClr val="003F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92F51D4B-D456-B789-BA8C-29E4418037D0}"/>
              </a:ext>
            </a:extLst>
          </p:cNvPr>
          <p:cNvCxnSpPr>
            <a:cxnSpLocks/>
          </p:cNvCxnSpPr>
          <p:nvPr/>
        </p:nvCxnSpPr>
        <p:spPr>
          <a:xfrm flipV="1">
            <a:off x="2695303" y="2051285"/>
            <a:ext cx="867339" cy="110410"/>
          </a:xfrm>
          <a:prstGeom prst="bentConnector3">
            <a:avLst/>
          </a:prstGeom>
          <a:ln w="28575">
            <a:solidFill>
              <a:srgbClr val="BC509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EB7E9CF-7BAF-D951-9FE9-691533E2FC19}"/>
              </a:ext>
            </a:extLst>
          </p:cNvPr>
          <p:cNvCxnSpPr>
            <a:cxnSpLocks/>
          </p:cNvCxnSpPr>
          <p:nvPr/>
        </p:nvCxnSpPr>
        <p:spPr>
          <a:xfrm flipV="1">
            <a:off x="2119695" y="4585847"/>
            <a:ext cx="673747" cy="339112"/>
          </a:xfrm>
          <a:prstGeom prst="bentConnector3">
            <a:avLst/>
          </a:prstGeom>
          <a:ln w="28575">
            <a:solidFill>
              <a:srgbClr val="FFA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82473F4-D7DF-A3F0-197A-6F74F2A8FAF0}"/>
              </a:ext>
            </a:extLst>
          </p:cNvPr>
          <p:cNvSpPr txBox="1"/>
          <p:nvPr/>
        </p:nvSpPr>
        <p:spPr>
          <a:xfrm>
            <a:off x="704894" y="5855700"/>
            <a:ext cx="7896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y-MM" sz="1400" dirty="0">
                <a:solidFill>
                  <a:srgbClr val="333333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စုစုပေါင်း ပင်စင်းစား ၈၄.၈ </a:t>
            </a:r>
            <a:r>
              <a:rPr lang="en-US" sz="1400" dirty="0">
                <a:solidFill>
                  <a:srgbClr val="333333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% (</a:t>
            </a:r>
            <a:r>
              <a:rPr lang="my-MM" sz="1400" dirty="0">
                <a:solidFill>
                  <a:srgbClr val="333333"/>
                </a:solidFill>
                <a:latin typeface="Pyidaungsu" panose="020B0502040204020203" pitchFamily="34" charset="0"/>
                <a:cs typeface="Pyidaungsu" panose="020B0502040204020203" pitchFamily="34" charset="0"/>
              </a:rPr>
              <a:t>၂၃,၁၇၇)ဦးသည် လိပ်စာအပြည့်အစုံ မပါရှိပါ။</a:t>
            </a:r>
            <a:endParaRPr lang="en-US" sz="1400" dirty="0">
              <a:solidFill>
                <a:srgbClr val="333333"/>
              </a:solidFill>
              <a:latin typeface="Pyidaungsu" panose="020B0502040204020203" pitchFamily="34" charset="0"/>
              <a:cs typeface="Pyidaungsu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5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C5C31-369B-1AA8-8BD4-D1F6142D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23599F-0D21-3676-4BA3-6F2CA4394A48}"/>
              </a:ext>
            </a:extLst>
          </p:cNvPr>
          <p:cNvCxnSpPr/>
          <p:nvPr/>
        </p:nvCxnSpPr>
        <p:spPr>
          <a:xfrm>
            <a:off x="612949" y="693336"/>
            <a:ext cx="10992897" cy="0"/>
          </a:xfrm>
          <a:prstGeom prst="line">
            <a:avLst/>
          </a:prstGeom>
          <a:ln w="28575">
            <a:solidFill>
              <a:srgbClr val="EF82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C064DBA-7F8A-6FA5-A37C-2BC34C69E80A}"/>
              </a:ext>
            </a:extLst>
          </p:cNvPr>
          <p:cNvSpPr txBox="1"/>
          <p:nvPr/>
        </p:nvSpPr>
        <p:spPr>
          <a:xfrm>
            <a:off x="612949" y="301339"/>
            <a:ext cx="645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my-MM" dirty="0">
                <a:solidFill>
                  <a:srgbClr val="333333"/>
                </a:solidFill>
              </a:rPr>
              <a:t>ပင်စင်စားများ၏ လိပ်စာမပြည့်စုံမှု အခြေအနေ</a:t>
            </a:r>
            <a:endParaRPr lang="en-US" dirty="0">
              <a:solidFill>
                <a:srgbClr val="333333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00692A-9A32-5392-7845-4C967C367861}"/>
              </a:ext>
            </a:extLst>
          </p:cNvPr>
          <p:cNvGrpSpPr/>
          <p:nvPr/>
        </p:nvGrpSpPr>
        <p:grpSpPr>
          <a:xfrm>
            <a:off x="9235564" y="809023"/>
            <a:ext cx="1699260" cy="259080"/>
            <a:chOff x="0" y="0"/>
            <a:chExt cx="1699260" cy="259080"/>
          </a:xfrm>
        </p:grpSpPr>
        <p:sp>
          <p:nvSpPr>
            <p:cNvPr id="12" name="TextBox 1">
              <a:extLst>
                <a:ext uri="{FF2B5EF4-FFF2-40B4-BE49-F238E27FC236}">
                  <a16:creationId xmlns:a16="http://schemas.microsoft.com/office/drawing/2014/main" id="{01CC259B-AD43-00D1-149B-1DDC573654D0}"/>
                </a:ext>
              </a:extLst>
            </p:cNvPr>
            <p:cNvSpPr txBox="1"/>
            <p:nvPr/>
          </p:nvSpPr>
          <p:spPr>
            <a:xfrm>
              <a:off x="0" y="0"/>
              <a:ext cx="891540" cy="25908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 dirty="0">
                  <a:solidFill>
                    <a:srgbClr val="00B050"/>
                  </a:solidFill>
                </a:rPr>
                <a:t>✔️</a:t>
              </a:r>
              <a:r>
                <a:rPr lang="en-US" sz="1050" dirty="0"/>
                <a:t> </a:t>
              </a:r>
              <a:r>
                <a:rPr lang="en-US" sz="1050" b="1" dirty="0">
                  <a:solidFill>
                    <a:srgbClr val="7030A0"/>
                  </a:solidFill>
                </a:rPr>
                <a:t>Present</a:t>
              </a:r>
            </a:p>
          </p:txBody>
        </p:sp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D6C22CDD-4FBE-3467-44BA-DC0496C7D997}"/>
                </a:ext>
              </a:extLst>
            </p:cNvPr>
            <p:cNvSpPr txBox="1"/>
            <p:nvPr/>
          </p:nvSpPr>
          <p:spPr>
            <a:xfrm>
              <a:off x="830580" y="0"/>
              <a:ext cx="868680" cy="259080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50">
                  <a:solidFill>
                    <a:srgbClr val="00B050"/>
                  </a:solidFill>
                </a:rPr>
                <a:t>❌</a:t>
              </a:r>
              <a:r>
                <a:rPr lang="en-US" sz="1050"/>
                <a:t> </a:t>
              </a:r>
              <a:r>
                <a:rPr lang="en-US" sz="1050" b="1">
                  <a:solidFill>
                    <a:srgbClr val="FF0000"/>
                  </a:solidFill>
                </a:rPr>
                <a:t>Missing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DD67C3-D81C-F711-7435-7A8536350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26304"/>
              </p:ext>
            </p:extLst>
          </p:nvPr>
        </p:nvGraphicFramePr>
        <p:xfrm>
          <a:off x="612949" y="1145516"/>
          <a:ext cx="10992896" cy="53035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0788">
                  <a:extLst>
                    <a:ext uri="{9D8B030D-6E8A-4147-A177-3AD203B41FA5}">
                      <a16:colId xmlns:a16="http://schemas.microsoft.com/office/drawing/2014/main" val="6116105"/>
                    </a:ext>
                  </a:extLst>
                </a:gridCol>
                <a:gridCol w="1533344">
                  <a:extLst>
                    <a:ext uri="{9D8B030D-6E8A-4147-A177-3AD203B41FA5}">
                      <a16:colId xmlns:a16="http://schemas.microsoft.com/office/drawing/2014/main" val="1485210922"/>
                    </a:ext>
                  </a:extLst>
                </a:gridCol>
                <a:gridCol w="2146682">
                  <a:extLst>
                    <a:ext uri="{9D8B030D-6E8A-4147-A177-3AD203B41FA5}">
                      <a16:colId xmlns:a16="http://schemas.microsoft.com/office/drawing/2014/main" val="52353859"/>
                    </a:ext>
                  </a:extLst>
                </a:gridCol>
                <a:gridCol w="1155906">
                  <a:extLst>
                    <a:ext uri="{9D8B030D-6E8A-4147-A177-3AD203B41FA5}">
                      <a16:colId xmlns:a16="http://schemas.microsoft.com/office/drawing/2014/main" val="2825662596"/>
                    </a:ext>
                  </a:extLst>
                </a:gridCol>
                <a:gridCol w="1533344">
                  <a:extLst>
                    <a:ext uri="{9D8B030D-6E8A-4147-A177-3AD203B41FA5}">
                      <a16:colId xmlns:a16="http://schemas.microsoft.com/office/drawing/2014/main" val="4058515225"/>
                    </a:ext>
                  </a:extLst>
                </a:gridCol>
                <a:gridCol w="1792832">
                  <a:extLst>
                    <a:ext uri="{9D8B030D-6E8A-4147-A177-3AD203B41FA5}">
                      <a16:colId xmlns:a16="http://schemas.microsoft.com/office/drawing/2014/main" val="3297976440"/>
                    </a:ext>
                  </a:extLst>
                </a:gridCol>
              </a:tblGrid>
              <a:tr h="383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ဖုန်းနံပါတ်</a:t>
                      </a:r>
                      <a:r>
                        <a:rPr lang="en-US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</a:t>
                      </a: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အိမ်နံပါတ်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ကျေးရွာ/ရပ်ကွက်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ကျေးရွာအုပ်စု/မြို့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မြို့နယ်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ပြည်နယ်/တိုင်း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my-MM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စုစုပေါင်း ပင်စင်စားအင်အား</a:t>
                      </a: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615921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11,692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393912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1,168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697384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2,209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6620115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41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712977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491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473990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1,391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825892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1,881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551719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2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612232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054417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1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61412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25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839304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14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083883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431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980696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232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15842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2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254020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87378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2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078944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  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115837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  33 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171435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111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037198"/>
                  </a:ext>
                </a:extLst>
              </a:tr>
              <a:tr h="21497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   433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0754"/>
                  </a:ext>
                </a:extLst>
              </a:tr>
              <a:tr h="19110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✔️</a:t>
                      </a:r>
                      <a:endParaRPr lang="en-US" sz="1200" b="0" i="0" u="none" strike="noStrike" dirty="0">
                        <a:solidFill>
                          <a:srgbClr val="00B05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❌</a:t>
                      </a:r>
                      <a:endParaRPr lang="en-US" sz="1200" b="0" i="0" u="none" strike="noStrike">
                        <a:solidFill>
                          <a:srgbClr val="FF0000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u="none" strike="noStrike" dirty="0"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                   3,006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Pyidaungsu Numbers" panose="020B0502040204020203" pitchFamily="34" charset="0"/>
                        <a:cs typeface="Pyidaungsu Numbers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554972"/>
                  </a:ext>
                </a:extLst>
              </a:tr>
              <a:tr h="214971">
                <a:tc gridSpan="5">
                  <a:txBody>
                    <a:bodyPr/>
                    <a:lstStyle/>
                    <a:p>
                      <a:pPr lvl="1" algn="ctr" fontAlgn="b">
                        <a:buNone/>
                      </a:pPr>
                      <a:r>
                        <a:rPr lang="my-MM" sz="1100" b="1" i="0" u="none" strike="noStrike" dirty="0">
                          <a:solidFill>
                            <a:srgbClr val="EF8222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စုစုပေါင်း ပင်စင်စားအင်အား</a:t>
                      </a:r>
                      <a:endParaRPr lang="en-US" sz="1100" b="1" i="0" u="none" strike="noStrike" dirty="0">
                        <a:solidFill>
                          <a:srgbClr val="EF8222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yidaungsu Numbers" panose="020B0502040204020203" pitchFamily="34" charset="0"/>
                          <a:cs typeface="Pyidaungsu Numbers" panose="020B0502040204020203" pitchFamily="34" charset="0"/>
                        </a:rPr>
                        <a:t>23,177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03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217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699</Words>
  <Application>Microsoft Office PowerPoint</Application>
  <PresentationFormat>Widescreen</PresentationFormat>
  <Paragraphs>154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Pyidaungsu</vt:lpstr>
      <vt:lpstr>Pyidaungsu Numbers</vt:lpstr>
      <vt:lpstr>Segoe UI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 Ko Aung</dc:creator>
  <cp:lastModifiedBy>Thuzar Sint</cp:lastModifiedBy>
  <cp:revision>47</cp:revision>
  <dcterms:created xsi:type="dcterms:W3CDTF">2025-10-16T03:24:21Z</dcterms:created>
  <dcterms:modified xsi:type="dcterms:W3CDTF">2025-10-17T04:36:04Z</dcterms:modified>
</cp:coreProperties>
</file>