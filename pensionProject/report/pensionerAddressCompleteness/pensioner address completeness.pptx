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8222"/>
    <a:srgbClr val="33333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 showGuides="1">
      <p:cViewPr varScale="1">
        <p:scale>
          <a:sx n="76" d="100"/>
          <a:sy n="76" d="100"/>
        </p:scale>
        <p:origin x="835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4CD2A-3471-B681-A224-3FCCBCFC4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1DC832-0ED6-7F2A-F9E7-601971213B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F0B48-732C-222A-4206-382950A00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26FD-8947-4B63-B917-76EA426DC8DD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6087B-A933-F6C8-A85F-E4CA01DCE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B2E0E-9046-6730-15FE-C92C42FAD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50D7C-1978-46E9-9CAC-D0E2EFB5E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62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19388-B454-860A-F4CF-1C75E0AA7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44268-7167-9AA1-9D27-8700C9A58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9A6A1-3AC2-4952-ABB7-B546D53B0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26FD-8947-4B63-B917-76EA426DC8DD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F3AAD-FE2F-46A0-9253-30F714CD1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7A4C9-F2C9-5537-AB22-BE688675B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50D7C-1978-46E9-9CAC-D0E2EFB5E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10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3142A-5D40-86C1-6EA7-CD76BEA79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814B95-523C-6879-2A41-CD54938F7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77F79-B890-5053-D397-3F6348142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26FD-8947-4B63-B917-76EA426DC8DD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9E48D-50D2-D9C6-58E5-D545B3B04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65AB7-94E5-5AAA-B93F-A55231BB1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50D7C-1978-46E9-9CAC-D0E2EFB5E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31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BFB3D-44B4-287E-43CE-0562CAB37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4312F-AC59-D898-20F7-C54B8F433A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11B9F2-0E2F-1CF7-AEFC-A548F548D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AFC2B-D925-EC26-35AC-7B69AA739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26FD-8947-4B63-B917-76EA426DC8DD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310082-A778-C6DF-564B-3F2067F83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A2AC7E-1F80-ED7C-90F6-6FD29B67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50D7C-1978-46E9-9CAC-D0E2EFB5E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09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B882D-A4CA-F229-DD01-C7E2908AB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97541-F66A-F637-AB4F-CB18CF86F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A854BF-099F-5631-8681-E16B1770C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D16A7C-93E0-9282-3294-351AF59FEB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394B1D-FF12-DCC3-D6D0-0985D2D54C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2F3DC5-4F62-216E-4F98-8E2DE74E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26FD-8947-4B63-B917-76EA426DC8DD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E71E17-FB6C-39F9-4F7E-B6889EE64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F2DFB9-D17F-22D5-D128-331DAEDE6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50D7C-1978-46E9-9CAC-D0E2EFB5E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380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DCF42-0CDC-28DC-BC7F-7F300B01C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F6EC3E-1BD0-239F-4A82-4258E8254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26FD-8947-4B63-B917-76EA426DC8DD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468834-75BA-64CA-F5D5-B81109943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1C56E0-E466-95EB-780B-D521F99CC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50D7C-1978-46E9-9CAC-D0E2EFB5E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691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4D9C17-A4C7-59FB-154C-8F0C03220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26FD-8947-4B63-B917-76EA426DC8DD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4045A1-41B6-755D-6F37-2FDE9E5DD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E0316-2318-B84A-0179-C623FF423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50D7C-1978-46E9-9CAC-D0E2EFB5E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21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C3A28-0A9E-0F2A-6FA1-E06B8A59D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98EC2-CBEF-FEBB-85C8-D6160670C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171F7C-4C6E-1A35-ACB7-F0BECB38B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77CF6-1CA2-CD76-C5A9-364CE7602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26FD-8947-4B63-B917-76EA426DC8DD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686CF-1B6B-BEBC-C8EC-69DFFC78F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95FDA-090C-FC2E-1D0B-51907ECCD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50D7C-1978-46E9-9CAC-D0E2EFB5E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59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FBF18-E6A6-9A46-DB67-78D530EAA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EBA068-AC65-F410-58EF-8C047A8046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66C29D-EFB4-1256-9DBA-3D3B0D7A9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0C8B9B-0973-30AF-D9B2-D51E4E0CB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26FD-8947-4B63-B917-76EA426DC8DD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5F8F9-7ED4-2C90-3D1F-1FBC63452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DBC295-12A9-2030-46B8-563DB2541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50D7C-1978-46E9-9CAC-D0E2EFB5E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684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1BE61-CBEF-5E5C-181F-2742C7FA2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1E4441-34B6-2C64-65D1-7B38BAED94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467F7-5480-02BC-A707-298FC6B0F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26FD-8947-4B63-B917-76EA426DC8DD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482BB-1A31-C4DD-96E8-AFACC5FB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0144F-DB8C-6E55-B26E-9343BF3CE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50D7C-1978-46E9-9CAC-D0E2EFB5E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025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B0574-E3AE-5111-9F22-F4DEB00C7D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51D9E2-22AB-5D59-C4E3-0544CAD35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12BAE-8500-BCD5-5C19-4A4D6BA46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26FD-8947-4B63-B917-76EA426DC8DD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00791-CDE6-24E6-F624-FC505DCB7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36778-41E8-83DD-A855-946CE75A4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50D7C-1978-46E9-9CAC-D0E2EFB5E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537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54EB41-33CF-9C04-5F80-07ECF1310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84AB1-FC32-207D-B1A1-39C0A3ABD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4D4D4-E409-E141-7A5A-4A29564EAE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1926FD-8947-4B63-B917-76EA426DC8DD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CC02F-4CEF-077A-1272-39856E304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72F4A-4199-99E6-AE9C-8BE6B3F26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050D7C-1978-46E9-9CAC-D0E2EFB5E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175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4FFACDA-526F-7F39-BD87-80975865F7C4}"/>
              </a:ext>
            </a:extLst>
          </p:cNvPr>
          <p:cNvCxnSpPr/>
          <p:nvPr/>
        </p:nvCxnSpPr>
        <p:spPr>
          <a:xfrm>
            <a:off x="612949" y="693336"/>
            <a:ext cx="10992897" cy="0"/>
          </a:xfrm>
          <a:prstGeom prst="line">
            <a:avLst/>
          </a:prstGeom>
          <a:ln w="28575">
            <a:solidFill>
              <a:srgbClr val="EF82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A234C6B-FB12-EF43-1568-734FBBE3E26A}"/>
              </a:ext>
            </a:extLst>
          </p:cNvPr>
          <p:cNvSpPr txBox="1"/>
          <p:nvPr/>
        </p:nvSpPr>
        <p:spPr>
          <a:xfrm>
            <a:off x="612949" y="281352"/>
            <a:ext cx="6451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Pensioners’ Address Data Completeness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6C86C7-378A-139A-0583-0F0A0737265D}"/>
              </a:ext>
            </a:extLst>
          </p:cNvPr>
          <p:cNvGrpSpPr/>
          <p:nvPr/>
        </p:nvGrpSpPr>
        <p:grpSpPr>
          <a:xfrm>
            <a:off x="9235564" y="889407"/>
            <a:ext cx="1699260" cy="259080"/>
            <a:chOff x="0" y="0"/>
            <a:chExt cx="1699260" cy="259080"/>
          </a:xfrm>
        </p:grpSpPr>
        <p:sp>
          <p:nvSpPr>
            <p:cNvPr id="12" name="TextBox 1">
              <a:extLst>
                <a:ext uri="{FF2B5EF4-FFF2-40B4-BE49-F238E27FC236}">
                  <a16:creationId xmlns:a16="http://schemas.microsoft.com/office/drawing/2014/main" id="{B88C7389-2DB3-A336-4F60-24F5E319211F}"/>
                </a:ext>
              </a:extLst>
            </p:cNvPr>
            <p:cNvSpPr txBox="1"/>
            <p:nvPr/>
          </p:nvSpPr>
          <p:spPr>
            <a:xfrm>
              <a:off x="0" y="0"/>
              <a:ext cx="891540" cy="259080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>
                  <a:solidFill>
                    <a:srgbClr val="00B050"/>
                  </a:solidFill>
                </a:rPr>
                <a:t>✔️</a:t>
              </a:r>
              <a:r>
                <a:rPr lang="en-US" sz="1050" dirty="0"/>
                <a:t> </a:t>
              </a:r>
              <a:r>
                <a:rPr lang="en-US" sz="1050" b="1" dirty="0">
                  <a:solidFill>
                    <a:srgbClr val="7030A0"/>
                  </a:solidFill>
                </a:rPr>
                <a:t>Present</a:t>
              </a:r>
            </a:p>
          </p:txBody>
        </p:sp>
        <p:sp>
          <p:nvSpPr>
            <p:cNvPr id="13" name="TextBox 3">
              <a:extLst>
                <a:ext uri="{FF2B5EF4-FFF2-40B4-BE49-F238E27FC236}">
                  <a16:creationId xmlns:a16="http://schemas.microsoft.com/office/drawing/2014/main" id="{CC9A4CA4-DB70-F1EE-2ACA-0FDF405196EA}"/>
                </a:ext>
              </a:extLst>
            </p:cNvPr>
            <p:cNvSpPr txBox="1"/>
            <p:nvPr/>
          </p:nvSpPr>
          <p:spPr>
            <a:xfrm>
              <a:off x="830580" y="0"/>
              <a:ext cx="868680" cy="259080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>
                  <a:solidFill>
                    <a:srgbClr val="00B050"/>
                  </a:solidFill>
                </a:rPr>
                <a:t>❌</a:t>
              </a:r>
              <a:r>
                <a:rPr lang="en-US" sz="1050"/>
                <a:t> </a:t>
              </a:r>
              <a:r>
                <a:rPr lang="en-US" sz="1050" b="1">
                  <a:solidFill>
                    <a:srgbClr val="FF0000"/>
                  </a:solidFill>
                </a:rPr>
                <a:t>Missing</a:t>
              </a:r>
            </a:p>
          </p:txBody>
        </p:sp>
      </p:grp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BDB0732-AF9E-4B31-77BC-5C7C39F276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642073"/>
              </p:ext>
            </p:extLst>
          </p:nvPr>
        </p:nvGraphicFramePr>
        <p:xfrm>
          <a:off x="612949" y="1344560"/>
          <a:ext cx="10992897" cy="4943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76460">
                  <a:extLst>
                    <a:ext uri="{9D8B030D-6E8A-4147-A177-3AD203B41FA5}">
                      <a16:colId xmlns:a16="http://schemas.microsoft.com/office/drawing/2014/main" val="1823099803"/>
                    </a:ext>
                  </a:extLst>
                </a:gridCol>
                <a:gridCol w="1588818">
                  <a:extLst>
                    <a:ext uri="{9D8B030D-6E8A-4147-A177-3AD203B41FA5}">
                      <a16:colId xmlns:a16="http://schemas.microsoft.com/office/drawing/2014/main" val="519321062"/>
                    </a:ext>
                  </a:extLst>
                </a:gridCol>
                <a:gridCol w="2104110">
                  <a:extLst>
                    <a:ext uri="{9D8B030D-6E8A-4147-A177-3AD203B41FA5}">
                      <a16:colId xmlns:a16="http://schemas.microsoft.com/office/drawing/2014/main" val="4052743260"/>
                    </a:ext>
                  </a:extLst>
                </a:gridCol>
                <a:gridCol w="1266759">
                  <a:extLst>
                    <a:ext uri="{9D8B030D-6E8A-4147-A177-3AD203B41FA5}">
                      <a16:colId xmlns:a16="http://schemas.microsoft.com/office/drawing/2014/main" val="2136252657"/>
                    </a:ext>
                  </a:extLst>
                </a:gridCol>
                <a:gridCol w="1567347">
                  <a:extLst>
                    <a:ext uri="{9D8B030D-6E8A-4147-A177-3AD203B41FA5}">
                      <a16:colId xmlns:a16="http://schemas.microsoft.com/office/drawing/2014/main" val="3182006785"/>
                    </a:ext>
                  </a:extLst>
                </a:gridCol>
                <a:gridCol w="1889403">
                  <a:extLst>
                    <a:ext uri="{9D8B030D-6E8A-4147-A177-3AD203B41FA5}">
                      <a16:colId xmlns:a16="http://schemas.microsoft.com/office/drawing/2014/main" val="3906190670"/>
                    </a:ext>
                  </a:extLst>
                </a:gridCol>
              </a:tblGrid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Phone no/Home address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Village/Ward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Village Tract/Town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Township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State/Region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Total pensioner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606664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4002 (14.65 % 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125161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11692 (42.79 % 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62143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1168 (4.27 % 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585605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2209 (8.08 % 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93089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41 (0.15 % 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193741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491 (1.80 % 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3001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1391 (5.09 % 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307310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1881 (6.88 % 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825413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2 (0.01 % 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41824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1 (0.00 % 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917341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1 (0.00 % 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8749884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25 (0.09 % 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84021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14 (0.05 % 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1414783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431 (1.58 % 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828863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232 (0.85 % 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0311624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2 (0.01 % 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13147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8 (0.03 % 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397968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2 (0.01 % 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37311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3 (0.01 % 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615646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33 (0.12 % 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262084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111 (0.41 % 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98163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433 (1.58 % 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673673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3006 (11.00 % 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621569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+mn-lt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146 (0.53 % 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778651"/>
                  </a:ext>
                </a:extLst>
              </a:tr>
              <a:tr h="174054">
                <a:tc gridSpan="5">
                  <a:txBody>
                    <a:bodyPr/>
                    <a:lstStyle/>
                    <a:p>
                      <a:pPr lvl="1"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EF8222"/>
                          </a:solidFill>
                          <a:effectLst/>
                          <a:latin typeface="+mn-lt"/>
                        </a:rPr>
                        <a:t>Grand Total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27,325 (100.00%)</a:t>
                      </a:r>
                    </a:p>
                  </a:txBody>
                  <a:tcPr marL="7252" marR="7252" marT="7252" marB="0" anchor="ctr">
                    <a:lnL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2841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0554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273</Words>
  <Application>Microsoft Office PowerPoint</Application>
  <PresentationFormat>Widescreen</PresentationFormat>
  <Paragraphs>155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 Ko Aung</dc:creator>
  <cp:lastModifiedBy>Ko Ko Aung</cp:lastModifiedBy>
  <cp:revision>5</cp:revision>
  <dcterms:created xsi:type="dcterms:W3CDTF">2025-10-16T03:24:21Z</dcterms:created>
  <dcterms:modified xsi:type="dcterms:W3CDTF">2025-10-16T03:53:31Z</dcterms:modified>
</cp:coreProperties>
</file>