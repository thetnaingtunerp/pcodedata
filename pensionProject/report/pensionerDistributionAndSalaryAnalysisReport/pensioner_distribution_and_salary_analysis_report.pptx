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6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7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8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2" r:id="rId2"/>
    <p:sldId id="277" r:id="rId3"/>
    <p:sldId id="274" r:id="rId4"/>
    <p:sldId id="270" r:id="rId5"/>
    <p:sldId id="258" r:id="rId6"/>
    <p:sldId id="261" r:id="rId7"/>
    <p:sldId id="259" r:id="rId8"/>
    <p:sldId id="265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4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222"/>
    <a:srgbClr val="10957F"/>
    <a:srgbClr val="000000"/>
    <a:srgbClr val="333333"/>
    <a:srgbClr val="9AF4E5"/>
    <a:srgbClr val="64EED7"/>
    <a:srgbClr val="FFC107"/>
    <a:srgbClr val="1F3C88"/>
    <a:srgbClr val="FFCA33"/>
    <a:srgbClr val="FFC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4690" autoAdjust="0"/>
  </p:normalViewPr>
  <p:slideViewPr>
    <p:cSldViewPr snapToGrid="0">
      <p:cViewPr varScale="1">
        <p:scale>
          <a:sx n="77" d="100"/>
          <a:sy n="77" d="100"/>
        </p:scale>
        <p:origin x="667" y="67"/>
      </p:cViewPr>
      <p:guideLst>
        <p:guide orient="horz" pos="1584"/>
        <p:guide pos="44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KoAung\Downloads\pensioner_data_analysis_old.xlsx" TargetMode="Externa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1076274849382088E-2"/>
          <c:y val="0.18039076538239859"/>
          <c:w val="0.91784745030123582"/>
          <c:h val="0.7871685277306507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analysis!$B$14</c:f>
              <c:strCache>
                <c:ptCount val="1"/>
                <c:pt idx="0">
                  <c:v>Defense</c:v>
                </c:pt>
              </c:strCache>
            </c:strRef>
          </c:tx>
          <c:spPr>
            <a:solidFill>
              <a:srgbClr val="10957F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51A748F-D731-4D73-82B1-ACE6127743A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2698-483E-AAB0-C17DD4414B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analysis!$C$13</c:f>
              <c:strCache>
                <c:ptCount val="1"/>
                <c:pt idx="0">
                  <c:v>Total Pensioner</c:v>
                </c:pt>
              </c:strCache>
            </c:strRef>
          </c:cat>
          <c:val>
            <c:numRef>
              <c:f>analysis!$C$14</c:f>
              <c:numCache>
                <c:formatCode>_(* #,##0_);_(* \(#,##0\);_(* "-"??_);_(@_)</c:formatCode>
                <c:ptCount val="1"/>
                <c:pt idx="0">
                  <c:v>14298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analysis!$D$14</c15:f>
                <c15:dlblRangeCache>
                  <c:ptCount val="1"/>
                  <c:pt idx="0">
                    <c:v>52.3%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2698-483E-AAB0-C17DD4414BE8}"/>
            </c:ext>
          </c:extLst>
        </c:ser>
        <c:ser>
          <c:idx val="1"/>
          <c:order val="1"/>
          <c:tx>
            <c:strRef>
              <c:f>analysis!$B$15</c:f>
              <c:strCache>
                <c:ptCount val="1"/>
                <c:pt idx="0">
                  <c:v>Civil</c:v>
                </c:pt>
              </c:strCache>
            </c:strRef>
          </c:tx>
          <c:spPr>
            <a:solidFill>
              <a:srgbClr val="10957F">
                <a:alpha val="6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0499E1A-B68F-4C02-BB9D-820CA34116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2698-483E-AAB0-C17DD4414B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analysis!$C$13</c:f>
              <c:strCache>
                <c:ptCount val="1"/>
                <c:pt idx="0">
                  <c:v>Total Pensioner</c:v>
                </c:pt>
              </c:strCache>
            </c:strRef>
          </c:cat>
          <c:val>
            <c:numRef>
              <c:f>analysis!$C$15</c:f>
              <c:numCache>
                <c:formatCode>_(* #,##0_);_(* \(#,##0\);_(* "-"??_);_(@_)</c:formatCode>
                <c:ptCount val="1"/>
                <c:pt idx="0">
                  <c:v>12425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analysis!$D$15</c15:f>
                <c15:dlblRangeCache>
                  <c:ptCount val="1"/>
                  <c:pt idx="0">
                    <c:v>45.5%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2698-483E-AAB0-C17DD4414BE8}"/>
            </c:ext>
          </c:extLst>
        </c:ser>
        <c:ser>
          <c:idx val="2"/>
          <c:order val="2"/>
          <c:tx>
            <c:strRef>
              <c:f>analysis!$B$16</c:f>
              <c:strCache>
                <c:ptCount val="1"/>
                <c:pt idx="0">
                  <c:v>Political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A14D7E5-E7CF-4159-9174-CA7B989D97E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inBase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698-483E-AAB0-C17DD4414B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analysis!$C$13</c:f>
              <c:strCache>
                <c:ptCount val="1"/>
                <c:pt idx="0">
                  <c:v>Total Pensioner</c:v>
                </c:pt>
              </c:strCache>
            </c:strRef>
          </c:cat>
          <c:val>
            <c:numRef>
              <c:f>analysis!$C$16</c:f>
              <c:numCache>
                <c:formatCode>_(* #,##0_);_(* \(#,##0\);_(* "-"??_);_(@_)</c:formatCode>
                <c:ptCount val="1"/>
                <c:pt idx="0">
                  <c:v>602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analysis!$D$16</c15:f>
                <c15:dlblRangeCache>
                  <c:ptCount val="1"/>
                  <c:pt idx="0">
                    <c:v>2.2%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2698-483E-AAB0-C17DD4414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52082735"/>
        <c:axId val="1752084655"/>
      </c:barChart>
      <c:catAx>
        <c:axId val="17520827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52084655"/>
        <c:crosses val="autoZero"/>
        <c:auto val="1"/>
        <c:lblAlgn val="ctr"/>
        <c:lblOffset val="100"/>
        <c:noMultiLvlLbl val="0"/>
      </c:catAx>
      <c:valAx>
        <c:axId val="1752084655"/>
        <c:scaling>
          <c:orientation val="minMax"/>
        </c:scaling>
        <c:delete val="1"/>
        <c:axPos val="b"/>
        <c:numFmt formatCode="_(* #,##0_);_(* \(#,##0\);_(* &quot;-&quot;??_);_(@_)" sourceLinked="1"/>
        <c:majorTickMark val="none"/>
        <c:minorTickMark val="none"/>
        <c:tickLblPos val="nextTo"/>
        <c:crossAx val="17520827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664571198386353"/>
          <c:y val="0.29338520750209346"/>
          <c:w val="0.56946153914007391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333333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822087916976479"/>
          <c:y val="0.33022748234621724"/>
          <c:w val="0.61860720799730551"/>
          <c:h val="0.625489156479502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analysis!$C$22</c:f>
              <c:strCache>
                <c:ptCount val="1"/>
                <c:pt idx="0">
                  <c:v>Total Salary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BEDB-4135-AD10-52FCF718318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DB-4135-AD10-52FCF71831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analysis!$B$23:$B$25</c:f>
              <c:strCache>
                <c:ptCount val="3"/>
                <c:pt idx="0">
                  <c:v>Defense</c:v>
                </c:pt>
                <c:pt idx="1">
                  <c:v>Civil</c:v>
                </c:pt>
                <c:pt idx="2">
                  <c:v>Political</c:v>
                </c:pt>
              </c:strCache>
            </c:strRef>
          </c:cat>
          <c:val>
            <c:numRef>
              <c:f>analysis!$C$23:$C$25</c:f>
              <c:numCache>
                <c:formatCode>0.0,,,"B"</c:formatCode>
                <c:ptCount val="3"/>
                <c:pt idx="0">
                  <c:v>2042920837.49</c:v>
                </c:pt>
                <c:pt idx="1">
                  <c:v>1113363346.8499999</c:v>
                </c:pt>
                <c:pt idx="2">
                  <c:v>73839929.400000006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DB-4135-AD10-52FCF7183184}"/>
            </c:ext>
          </c:extLst>
        </c:ser>
        <c:ser>
          <c:idx val="1"/>
          <c:order val="1"/>
          <c:tx>
            <c:strRef>
              <c:f>analysis!$C$22</c:f>
              <c:strCache>
                <c:ptCount val="1"/>
                <c:pt idx="0">
                  <c:v>Total Salary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EDB-4135-AD10-52FCF7183184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C41CDC66-B7FB-41B2-8F4C-38751C413B47}" type="CELLRANGE">
                      <a:rPr lang="en-US"/>
                      <a:pPr>
                        <a:defRPr sz="1000"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BEDB-4135-AD10-52FCF718318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2892932-D291-459B-BA43-489B0FE76F7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BEDB-4135-AD10-52FCF7183184}"/>
                </c:ext>
              </c:extLst>
            </c:dLbl>
            <c:dLbl>
              <c:idx val="2"/>
              <c:layout>
                <c:manualLayout>
                  <c:x val="-1.6142050040355124E-2"/>
                  <c:y val="-5.0970606863081141E-3"/>
                </c:manualLayout>
              </c:layout>
              <c:tx>
                <c:rich>
                  <a:bodyPr/>
                  <a:lstStyle/>
                  <a:p>
                    <a:fld id="{447594D1-C89C-428A-8977-FE62A2BC6D2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BEDB-4135-AD10-52FCF71831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analysis!$B$23:$B$25</c:f>
              <c:strCache>
                <c:ptCount val="3"/>
                <c:pt idx="0">
                  <c:v>Defense</c:v>
                </c:pt>
                <c:pt idx="1">
                  <c:v>Civil</c:v>
                </c:pt>
                <c:pt idx="2">
                  <c:v>Political</c:v>
                </c:pt>
              </c:strCache>
            </c:strRef>
          </c:cat>
          <c:val>
            <c:numRef>
              <c:f>analysis!$C$23:$C$25</c:f>
              <c:numCache>
                <c:formatCode>0.0,,,"B"</c:formatCode>
                <c:ptCount val="3"/>
                <c:pt idx="0">
                  <c:v>2042920837.49</c:v>
                </c:pt>
                <c:pt idx="1">
                  <c:v>1113363346.8499999</c:v>
                </c:pt>
                <c:pt idx="2">
                  <c:v>73839929.400000006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analysis!$D$23:$D$25</c15:f>
                <c15:dlblRangeCache>
                  <c:ptCount val="3"/>
                  <c:pt idx="0">
                    <c:v>63.2%</c:v>
                  </c:pt>
                  <c:pt idx="1">
                    <c:v>34.5%</c:v>
                  </c:pt>
                  <c:pt idx="2">
                    <c:v>2.3%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BEDB-4135-AD10-52FCF7183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774074687"/>
        <c:axId val="774072287"/>
      </c:barChart>
      <c:catAx>
        <c:axId val="774074687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Pension Group</a:t>
                </a:r>
              </a:p>
            </c:rich>
          </c:tx>
          <c:layout>
            <c:manualLayout>
              <c:xMode val="edge"/>
              <c:yMode val="edge"/>
              <c:x val="2.3529697440629405E-3"/>
              <c:y val="0.443572367224830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774072287"/>
        <c:crosses val="autoZero"/>
        <c:auto val="1"/>
        <c:lblAlgn val="ctr"/>
        <c:lblOffset val="100"/>
        <c:noMultiLvlLbl val="0"/>
      </c:catAx>
      <c:valAx>
        <c:axId val="774072287"/>
        <c:scaling>
          <c:orientation val="minMax"/>
          <c:max val="2100000000"/>
          <c:min val="0"/>
        </c:scaling>
        <c:delete val="1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Total Salary (MMK)</a:t>
                </a:r>
              </a:p>
            </c:rich>
          </c:tx>
          <c:layout>
            <c:manualLayout>
              <c:xMode val="edge"/>
              <c:yMode val="edge"/>
              <c:x val="0.37748439852362692"/>
              <c:y val="0.9507424086592709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0.0,,,&quot;B&quot;" sourceLinked="1"/>
        <c:majorTickMark val="none"/>
        <c:minorTickMark val="none"/>
        <c:tickLblPos val="nextTo"/>
        <c:crossAx val="774074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240174092162532"/>
          <c:y val="0.30768321513002367"/>
          <c:w val="0.70118475696867011"/>
          <c:h val="0.63615095713341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analysis!$C$31</c:f>
              <c:strCache>
                <c:ptCount val="1"/>
                <c:pt idx="0">
                  <c:v>Average Salary/Pensioner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9F-4967-BB49-73CC0049F39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B9F-4967-BB49-73CC0049F3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analysis!$B$32:$B$34</c:f>
              <c:strCache>
                <c:ptCount val="3"/>
                <c:pt idx="0">
                  <c:v>Defense</c:v>
                </c:pt>
                <c:pt idx="1">
                  <c:v>Civil</c:v>
                </c:pt>
                <c:pt idx="2">
                  <c:v>Political</c:v>
                </c:pt>
              </c:strCache>
            </c:strRef>
          </c:cat>
          <c:val>
            <c:numRef>
              <c:f>analysis!$C$32:$C$34</c:f>
              <c:numCache>
                <c:formatCode>_(* #,##0_);_(* \(#,##0\);_(* "-"??_);_(@_)</c:formatCode>
                <c:ptCount val="3"/>
                <c:pt idx="0">
                  <c:v>127200</c:v>
                </c:pt>
                <c:pt idx="1">
                  <c:v>85500</c:v>
                </c:pt>
                <c:pt idx="2">
                  <c:v>80850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9F-4967-BB49-73CC0049F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683703327"/>
        <c:axId val="1683701887"/>
      </c:barChart>
      <c:catAx>
        <c:axId val="1683703327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Pension Group</a:t>
                </a:r>
              </a:p>
            </c:rich>
          </c:tx>
          <c:layout>
            <c:manualLayout>
              <c:xMode val="edge"/>
              <c:yMode val="edge"/>
              <c:x val="2.6789608691415944E-3"/>
              <c:y val="0.4440540887609841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683701887"/>
        <c:crosses val="autoZero"/>
        <c:auto val="1"/>
        <c:lblAlgn val="ctr"/>
        <c:lblOffset val="100"/>
        <c:noMultiLvlLbl val="0"/>
      </c:catAx>
      <c:valAx>
        <c:axId val="1683701887"/>
        <c:scaling>
          <c:orientation val="minMax"/>
        </c:scaling>
        <c:delete val="1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Average Salary (MMK)</a:t>
                </a:r>
              </a:p>
            </c:rich>
          </c:tx>
          <c:layout>
            <c:manualLayout>
              <c:xMode val="edge"/>
              <c:yMode val="edge"/>
              <c:x val="0.39069848759819592"/>
              <c:y val="0.9506414860545954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crossAx val="1683703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539370078740161E-2"/>
          <c:y val="0.30916014842465428"/>
          <c:w val="0.93390507436570425"/>
          <c:h val="0.5088500919674132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analysis!$H$71</c:f>
              <c:strCache>
                <c:ptCount val="1"/>
                <c:pt idx="0">
                  <c:v>Defense%</c:v>
                </c:pt>
              </c:strCache>
            </c:strRef>
          </c:tx>
          <c:spPr>
            <a:solidFill>
              <a:srgbClr val="10957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analysis!$B$72:$B$75</c:f>
              <c:strCache>
                <c:ptCount val="4"/>
                <c:pt idx="0">
                  <c:v>Pyinmana</c:v>
                </c:pt>
                <c:pt idx="1">
                  <c:v>Pokebathiri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analysis!$H$72:$H$75</c:f>
              <c:numCache>
                <c:formatCode>0.0%</c:formatCode>
                <c:ptCount val="4"/>
                <c:pt idx="0">
                  <c:v>0.47600398274145372</c:v>
                </c:pt>
                <c:pt idx="1">
                  <c:v>0.69884099963781243</c:v>
                </c:pt>
                <c:pt idx="2">
                  <c:v>0.44970906068162925</c:v>
                </c:pt>
                <c:pt idx="3">
                  <c:v>0.52572706935123048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39-4D2E-A9EC-0DC8E54558D3}"/>
            </c:ext>
          </c:extLst>
        </c:ser>
        <c:ser>
          <c:idx val="1"/>
          <c:order val="1"/>
          <c:tx>
            <c:strRef>
              <c:f>analysis!$I$71</c:f>
              <c:strCache>
                <c:ptCount val="1"/>
                <c:pt idx="0">
                  <c:v>Civil%</c:v>
                </c:pt>
              </c:strCache>
            </c:strRef>
          </c:tx>
          <c:spPr>
            <a:solidFill>
              <a:srgbClr val="10957F">
                <a:alpha val="7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analysis!$B$72:$B$75</c:f>
              <c:strCache>
                <c:ptCount val="4"/>
                <c:pt idx="0">
                  <c:v>Pyinmana</c:v>
                </c:pt>
                <c:pt idx="1">
                  <c:v>Pokebathiri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analysis!$I$72:$I$75</c:f>
              <c:numCache>
                <c:formatCode>0.0%</c:formatCode>
                <c:ptCount val="4"/>
                <c:pt idx="0">
                  <c:v>0.50786591437105877</c:v>
                </c:pt>
                <c:pt idx="1">
                  <c:v>0.29319087287214779</c:v>
                </c:pt>
                <c:pt idx="2">
                  <c:v>0.5045719035743973</c:v>
                </c:pt>
                <c:pt idx="3">
                  <c:v>0.42633429210610418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39-4D2E-A9EC-0DC8E54558D3}"/>
            </c:ext>
          </c:extLst>
        </c:ser>
        <c:ser>
          <c:idx val="2"/>
          <c:order val="2"/>
          <c:tx>
            <c:strRef>
              <c:f>analysis!$J$71</c:f>
              <c:strCache>
                <c:ptCount val="1"/>
                <c:pt idx="0">
                  <c:v>Political%</c:v>
                </c:pt>
              </c:strCache>
            </c:strRef>
          </c:tx>
          <c:spPr>
            <a:solidFill>
              <a:srgbClr val="10957F">
                <a:alpha val="3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analysis!$B$72:$B$75</c:f>
              <c:strCache>
                <c:ptCount val="4"/>
                <c:pt idx="0">
                  <c:v>Pyinmana</c:v>
                </c:pt>
                <c:pt idx="1">
                  <c:v>Pokebathiri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analysis!$J$72:$J$75</c:f>
              <c:numCache>
                <c:formatCode>0.0%</c:formatCode>
                <c:ptCount val="4"/>
                <c:pt idx="0">
                  <c:v>1.6130102887487553E-2</c:v>
                </c:pt>
                <c:pt idx="1">
                  <c:v>7.9681274900398405E-3</c:v>
                </c:pt>
                <c:pt idx="2">
                  <c:v>4.5719035743973402E-2</c:v>
                </c:pt>
                <c:pt idx="3">
                  <c:v>4.793863854266539E-2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39-4D2E-A9EC-0DC8E5455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1762344703"/>
        <c:axId val="1762345183"/>
      </c:barChart>
      <c:catAx>
        <c:axId val="17623447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Branch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762345183"/>
        <c:crosses val="autoZero"/>
        <c:auto val="1"/>
        <c:lblAlgn val="ctr"/>
        <c:lblOffset val="100"/>
        <c:noMultiLvlLbl val="0"/>
      </c:catAx>
      <c:valAx>
        <c:axId val="1762345183"/>
        <c:scaling>
          <c:orientation val="minMax"/>
          <c:max val="1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Pensioner Proportion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0.0%" sourceLinked="1"/>
        <c:majorTickMark val="none"/>
        <c:minorTickMark val="none"/>
        <c:tickLblPos val="nextTo"/>
        <c:crossAx val="1762344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5297486977245367"/>
          <c:y val="0.14787639926957216"/>
          <c:w val="0.40926727909011379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333333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3084992781053318"/>
          <c:y val="0.2817713825113175"/>
          <c:w val="0.54748297091114362"/>
          <c:h val="0.6406822810005162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analysis!$C$40</c:f>
              <c:strCache>
                <c:ptCount val="1"/>
                <c:pt idx="0">
                  <c:v>Total Pensioner</c:v>
                </c:pt>
              </c:strCache>
            </c:strRef>
          </c:tx>
          <c:spPr>
            <a:solidFill>
              <a:srgbClr val="1F3C88">
                <a:alpha val="2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C8F-433D-AC6C-DC1D50C1EB02}"/>
                </c:ext>
              </c:extLst>
            </c:dLbl>
            <c:dLbl>
              <c:idx val="3"/>
              <c:layout>
                <c:manualLayout>
                  <c:x val="-0.1291546599312843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C8F-433D-AC6C-DC1D50C1EB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analysis!$B$41:$B$44</c:f>
              <c:strCache>
                <c:ptCount val="4"/>
                <c:pt idx="0">
                  <c:v>Pyinmana</c:v>
                </c:pt>
                <c:pt idx="1">
                  <c:v>Pokebathiri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analysis!$C$41:$C$44</c:f>
              <c:numCache>
                <c:formatCode>_(* #,##0_);_(* \(#,##0\);_(* "-"??_);_(@_)</c:formatCode>
                <c:ptCount val="4"/>
                <c:pt idx="0">
                  <c:v>15065</c:v>
                </c:pt>
                <c:pt idx="1">
                  <c:v>5522</c:v>
                </c:pt>
                <c:pt idx="2">
                  <c:v>3609</c:v>
                </c:pt>
                <c:pt idx="3">
                  <c:v>3129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8F-433D-AC6C-DC1D50C1EB02}"/>
            </c:ext>
          </c:extLst>
        </c:ser>
        <c:ser>
          <c:idx val="1"/>
          <c:order val="1"/>
          <c:tx>
            <c:strRef>
              <c:f>analysis!$C$40</c:f>
              <c:strCache>
                <c:ptCount val="1"/>
                <c:pt idx="0">
                  <c:v>Total Pensioner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8F-433D-AC6C-DC1D50C1EB02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62BB46B6-ED25-490E-AC0E-2C00F4480807}" type="CELLRANGE">
                      <a:rPr lang="en-US"/>
                      <a:pPr>
                        <a:defRPr sz="1000"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8C8F-433D-AC6C-DC1D50C1EB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E5C296-43F0-4F5B-841D-5CED745D653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8C8F-433D-AC6C-DC1D50C1EB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C294D4E-A46D-4ECB-9764-32E990CCA0C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C8F-433D-AC6C-DC1D50C1EB0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B337B20-462A-41FB-A931-49E8C232F31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8C8F-433D-AC6C-DC1D50C1EB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analysis!$B$41:$B$44</c:f>
              <c:strCache>
                <c:ptCount val="4"/>
                <c:pt idx="0">
                  <c:v>Pyinmana</c:v>
                </c:pt>
                <c:pt idx="1">
                  <c:v>Pokebathiri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analysis!$C$41:$C$44</c:f>
              <c:numCache>
                <c:formatCode>_(* #,##0_);_(* \(#,##0\);_(* "-"??_);_(@_)</c:formatCode>
                <c:ptCount val="4"/>
                <c:pt idx="0">
                  <c:v>15065</c:v>
                </c:pt>
                <c:pt idx="1">
                  <c:v>5522</c:v>
                </c:pt>
                <c:pt idx="2">
                  <c:v>3609</c:v>
                </c:pt>
                <c:pt idx="3">
                  <c:v>3129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analysis!$D$41:$D$44</c15:f>
                <c15:dlblRangeCache>
                  <c:ptCount val="4"/>
                  <c:pt idx="0">
                    <c:v>55.1%</c:v>
                  </c:pt>
                  <c:pt idx="1">
                    <c:v>20.2%</c:v>
                  </c:pt>
                  <c:pt idx="2">
                    <c:v>13.2%</c:v>
                  </c:pt>
                  <c:pt idx="3">
                    <c:v>11.5%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8C8F-433D-AC6C-DC1D50C1E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331877183"/>
        <c:axId val="331877663"/>
      </c:barChart>
      <c:catAx>
        <c:axId val="331877183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Branch</a:t>
                </a:r>
              </a:p>
            </c:rich>
          </c:tx>
          <c:layout>
            <c:manualLayout>
              <c:xMode val="edge"/>
              <c:yMode val="edge"/>
              <c:x val="1.1864113723278835E-2"/>
              <c:y val="0.490193417970703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331877663"/>
        <c:crosses val="autoZero"/>
        <c:auto val="1"/>
        <c:lblAlgn val="ctr"/>
        <c:lblOffset val="100"/>
        <c:noMultiLvlLbl val="0"/>
      </c:catAx>
      <c:valAx>
        <c:axId val="331877663"/>
        <c:scaling>
          <c:orientation val="minMax"/>
          <c:max val="16000"/>
          <c:min val="0"/>
        </c:scaling>
        <c:delete val="1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# of Pensioners</a:t>
                </a:r>
              </a:p>
            </c:rich>
          </c:tx>
          <c:layout>
            <c:manualLayout>
              <c:xMode val="edge"/>
              <c:yMode val="edge"/>
              <c:x val="0.44045898756508584"/>
              <c:y val="0.943053867497019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out"/>
        <c:minorTickMark val="none"/>
        <c:tickLblPos val="nextTo"/>
        <c:crossAx val="331877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077990048317322"/>
          <c:y val="0.28031755515371704"/>
          <c:w val="0.6114975570039699"/>
          <c:h val="0.6471636233262892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analysis!$C$50</c:f>
              <c:strCache>
                <c:ptCount val="1"/>
                <c:pt idx="0">
                  <c:v>Total Salary</c:v>
                </c:pt>
              </c:strCache>
            </c:strRef>
          </c:tx>
          <c:spPr>
            <a:solidFill>
              <a:srgbClr val="1F3C88">
                <a:alpha val="20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9B23-4269-80C5-5092BAE10E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analysis!$B$51:$B$54</c:f>
              <c:strCache>
                <c:ptCount val="4"/>
                <c:pt idx="0">
                  <c:v>Pyinmana</c:v>
                </c:pt>
                <c:pt idx="1">
                  <c:v>Pokebathiri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analysis!$C$51:$C$54</c:f>
              <c:numCache>
                <c:formatCode>0.0,,,"B"</c:formatCode>
                <c:ptCount val="4"/>
                <c:pt idx="0">
                  <c:v>1673095319.95</c:v>
                </c:pt>
                <c:pt idx="1">
                  <c:v>904732167.52999997</c:v>
                </c:pt>
                <c:pt idx="2">
                  <c:v>353158820.82999998</c:v>
                </c:pt>
                <c:pt idx="3">
                  <c:v>299137805.43000001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1-4D53-BEDA-E114D1760BF2}"/>
            </c:ext>
          </c:extLst>
        </c:ser>
        <c:ser>
          <c:idx val="1"/>
          <c:order val="1"/>
          <c:tx>
            <c:strRef>
              <c:f>analysis!$C$50</c:f>
              <c:strCache>
                <c:ptCount val="1"/>
                <c:pt idx="0">
                  <c:v>Total Salary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181-4D53-BEDA-E114D1760BF2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AD1A37A3-8A5C-483F-997E-23F0EFF8C5E8}" type="CELLRANGE">
                      <a:rPr lang="en-US"/>
                      <a:pPr>
                        <a:defRPr sz="1000"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9181-4D53-BEDA-E114D1760BF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D4D9A94-BEAA-4728-82E8-B2D8AC53484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9181-4D53-BEDA-E114D1760BF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EFF06351-C047-48DB-B318-E9D76FA3D44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181-4D53-BEDA-E114D1760BF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FD708ED-8C8F-41CF-865F-655FDF7FA3F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9181-4D53-BEDA-E114D1760BF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analysis!$C$51:$C$54</c:f>
              <c:numCache>
                <c:formatCode>0.0,,,"B"</c:formatCode>
                <c:ptCount val="4"/>
                <c:pt idx="0">
                  <c:v>1673095319.95</c:v>
                </c:pt>
                <c:pt idx="1">
                  <c:v>904732167.52999997</c:v>
                </c:pt>
                <c:pt idx="2">
                  <c:v>353158820.82999998</c:v>
                </c:pt>
                <c:pt idx="3">
                  <c:v>299137805.43000001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analysis!$D$51:$D$54</c15:f>
                <c15:dlblRangeCache>
                  <c:ptCount val="4"/>
                  <c:pt idx="0">
                    <c:v>51.8%</c:v>
                  </c:pt>
                  <c:pt idx="1">
                    <c:v>28.0%</c:v>
                  </c:pt>
                  <c:pt idx="2">
                    <c:v>10.9%</c:v>
                  </c:pt>
                  <c:pt idx="3">
                    <c:v>9.3%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5-9181-4D53-BEDA-E114D1760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1694837983"/>
        <c:axId val="1694838463"/>
      </c:barChart>
      <c:catAx>
        <c:axId val="1694837983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Branch</a:t>
                </a:r>
              </a:p>
            </c:rich>
          </c:tx>
          <c:layout>
            <c:manualLayout>
              <c:xMode val="edge"/>
              <c:yMode val="edge"/>
              <c:x val="1.0534827826321346E-2"/>
              <c:y val="0.489059405792591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694838463"/>
        <c:crosses val="autoZero"/>
        <c:auto val="1"/>
        <c:lblAlgn val="ctr"/>
        <c:lblOffset val="100"/>
        <c:noMultiLvlLbl val="0"/>
      </c:catAx>
      <c:valAx>
        <c:axId val="1694838463"/>
        <c:scaling>
          <c:orientation val="minMax"/>
          <c:max val="1800000000"/>
          <c:min val="0"/>
        </c:scaling>
        <c:delete val="1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Total</a:t>
                </a:r>
                <a:r>
                  <a:rPr lang="en-US" b="1" baseline="0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Salary (MMK)</a:t>
                </a:r>
                <a:endParaRPr lang="en-US" b="1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c:rich>
          </c:tx>
          <c:layout>
            <c:manualLayout>
              <c:xMode val="edge"/>
              <c:yMode val="edge"/>
              <c:x val="0.45283102530569902"/>
              <c:y val="0.943372274567784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0.0,,,&quot;B&quot;" sourceLinked="1"/>
        <c:majorTickMark val="none"/>
        <c:minorTickMark val="none"/>
        <c:tickLblPos val="nextTo"/>
        <c:crossAx val="1694837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23650632779814"/>
          <c:y val="0.24976536867903748"/>
          <c:w val="0.66225539876822326"/>
          <c:h val="0.6786060805230865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analysis!$C$60</c:f>
              <c:strCache>
                <c:ptCount val="1"/>
                <c:pt idx="0">
                  <c:v>Average Salary/Pensioner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A96-4229-A207-21FEB04574F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A96-4229-A207-21FEB04574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analysis!$B$61:$B$64</c:f>
              <c:strCache>
                <c:ptCount val="4"/>
                <c:pt idx="0">
                  <c:v>Pokebathiri</c:v>
                </c:pt>
                <c:pt idx="1">
                  <c:v>Pyinmana</c:v>
                </c:pt>
                <c:pt idx="2">
                  <c:v>Lewe</c:v>
                </c:pt>
                <c:pt idx="3">
                  <c:v>Tatkone</c:v>
                </c:pt>
              </c:strCache>
            </c:strRef>
          </c:cat>
          <c:val>
            <c:numRef>
              <c:f>analysis!$C$61:$C$64</c:f>
              <c:numCache>
                <c:formatCode>_(* #,##0_);_(* \(#,##0\);_(* "-"??_);_(@_)</c:formatCode>
                <c:ptCount val="4"/>
                <c:pt idx="0">
                  <c:v>149066.25</c:v>
                </c:pt>
                <c:pt idx="1">
                  <c:v>97405</c:v>
                </c:pt>
                <c:pt idx="2">
                  <c:v>91305</c:v>
                </c:pt>
                <c:pt idx="3">
                  <c:v>86872.5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96-4229-A207-21FEB0457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769278063"/>
        <c:axId val="769279023"/>
      </c:barChart>
      <c:catAx>
        <c:axId val="769278063"/>
        <c:scaling>
          <c:orientation val="maxMin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Branch</a:t>
                </a:r>
              </a:p>
            </c:rich>
          </c:tx>
          <c:layout>
            <c:manualLayout>
              <c:xMode val="edge"/>
              <c:yMode val="edge"/>
              <c:x val="9.6575806074822978E-3"/>
              <c:y val="0.4902918192056146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769279023"/>
        <c:crosses val="autoZero"/>
        <c:auto val="1"/>
        <c:lblAlgn val="ctr"/>
        <c:lblOffset val="100"/>
        <c:noMultiLvlLbl val="0"/>
      </c:catAx>
      <c:valAx>
        <c:axId val="769279023"/>
        <c:scaling>
          <c:orientation val="minMax"/>
          <c:max val="150000"/>
          <c:min val="0"/>
        </c:scaling>
        <c:delete val="1"/>
        <c:axPos val="t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Average Salary (MMK)</a:t>
                </a:r>
              </a:p>
            </c:rich>
          </c:tx>
          <c:layout>
            <c:manualLayout>
              <c:xMode val="edge"/>
              <c:yMode val="edge"/>
              <c:x val="0.35475592631395503"/>
              <c:y val="0.942840295717242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crossAx val="769278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41010033113019E-2"/>
          <c:y val="0.33689884581979029"/>
          <c:w val="0.89003420632518382"/>
          <c:h val="0.515461768020394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analysis!$C$91</c:f>
              <c:strCache>
                <c:ptCount val="1"/>
                <c:pt idx="0">
                  <c:v>Total Pensioner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6E3-4C95-BA85-A5709AD8155D}"/>
              </c:ext>
            </c:extLst>
          </c:dPt>
          <c:dPt>
            <c:idx val="1"/>
            <c:invertIfNegative val="0"/>
            <c:bubble3D val="0"/>
            <c:spPr>
              <a:solidFill>
                <a:srgbClr val="10957F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E3-4C95-BA85-A5709AD8155D}"/>
              </c:ext>
            </c:extLst>
          </c:dPt>
          <c:dPt>
            <c:idx val="2"/>
            <c:invertIfNegative val="0"/>
            <c:bubble3D val="0"/>
            <c:spPr>
              <a:solidFill>
                <a:srgbClr val="10957F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6E3-4C95-BA85-A5709AD8155D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6E3-4C95-BA85-A5709AD8155D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6E3-4C95-BA85-A5709AD8155D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6E3-4C95-BA85-A5709AD815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analysis!$B$92:$B$98</c:f>
              <c:strCache>
                <c:ptCount val="7"/>
                <c:pt idx="0">
                  <c:v>0k-50k</c:v>
                </c:pt>
                <c:pt idx="1">
                  <c:v>50k-100k</c:v>
                </c:pt>
                <c:pt idx="2">
                  <c:v>100k-150k</c:v>
                </c:pt>
                <c:pt idx="3">
                  <c:v>150k-200k</c:v>
                </c:pt>
                <c:pt idx="4">
                  <c:v>200k-250k</c:v>
                </c:pt>
                <c:pt idx="5">
                  <c:v>250k-300k</c:v>
                </c:pt>
                <c:pt idx="6">
                  <c:v>300k+</c:v>
                </c:pt>
              </c:strCache>
            </c:strRef>
          </c:cat>
          <c:val>
            <c:numRef>
              <c:f>analysis!$C$92:$C$98</c:f>
              <c:numCache>
                <c:formatCode>_(* #,##0_);_(* \(#,##0\);_(* "-"??_);_(@_)</c:formatCode>
                <c:ptCount val="7"/>
                <c:pt idx="0">
                  <c:v>5252</c:v>
                </c:pt>
                <c:pt idx="1">
                  <c:v>7825</c:v>
                </c:pt>
                <c:pt idx="2">
                  <c:v>7626</c:v>
                </c:pt>
                <c:pt idx="3">
                  <c:v>3112</c:v>
                </c:pt>
                <c:pt idx="4">
                  <c:v>1864</c:v>
                </c:pt>
                <c:pt idx="5">
                  <c:v>918</c:v>
                </c:pt>
                <c:pt idx="6">
                  <c:v>728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E3-4C95-BA85-A5709AD8155D}"/>
            </c:ext>
          </c:extLst>
        </c:ser>
        <c:ser>
          <c:idx val="1"/>
          <c:order val="1"/>
          <c:tx>
            <c:strRef>
              <c:f>analysis!$C$91</c:f>
              <c:strCache>
                <c:ptCount val="1"/>
                <c:pt idx="0">
                  <c:v>Total Pensioner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6E3-4C95-BA85-A5709AD8155D}"/>
              </c:ext>
            </c:extLst>
          </c:dPt>
          <c:dPt>
            <c:idx val="1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46E3-4C95-BA85-A5709AD8155D}"/>
              </c:ext>
            </c:extLst>
          </c:dPt>
          <c:dPt>
            <c:idx val="2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46E3-4C95-BA85-A5709AD8155D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4FBEC1C5-4E5E-45C1-AF69-A1E19472FE98}" type="CELLRANGE">
                      <a:rPr lang="en-US"/>
                      <a:pPr>
                        <a:defRPr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46E3-4C95-BA85-A5709AD8155D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FBB22B65-4065-49F0-A6B1-8F5D26E41ABD}" type="CELLRANGE">
                      <a:rPr lang="en-US"/>
                      <a:pPr>
                        <a:defRPr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46E3-4C95-BA85-A5709AD8155D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4239FF3A-1AD3-4D90-9218-BE02FE9628FE}" type="CELLRANGE">
                      <a:rPr lang="en-US"/>
                      <a:pPr>
                        <a:defRPr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46E3-4C95-BA85-A5709AD8155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E4A5DEBB-CC25-4F54-9D4E-F0BE3B19018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46E3-4C95-BA85-A5709AD8155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D2F37D4B-5AE1-4B52-AD88-7F863301FD9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46E3-4C95-BA85-A5709AD8155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1451CBC-61E3-4C02-9A4B-BEF9722998A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46E3-4C95-BA85-A5709AD8155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5F2DDB53-437D-4FAE-A03A-9BB4C051D96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46E3-4C95-BA85-A5709AD815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analysis!$B$92:$B$98</c:f>
              <c:strCache>
                <c:ptCount val="7"/>
                <c:pt idx="0">
                  <c:v>0k-50k</c:v>
                </c:pt>
                <c:pt idx="1">
                  <c:v>50k-100k</c:v>
                </c:pt>
                <c:pt idx="2">
                  <c:v>100k-150k</c:v>
                </c:pt>
                <c:pt idx="3">
                  <c:v>150k-200k</c:v>
                </c:pt>
                <c:pt idx="4">
                  <c:v>200k-250k</c:v>
                </c:pt>
                <c:pt idx="5">
                  <c:v>250k-300k</c:v>
                </c:pt>
                <c:pt idx="6">
                  <c:v>300k+</c:v>
                </c:pt>
              </c:strCache>
            </c:strRef>
          </c:cat>
          <c:val>
            <c:numRef>
              <c:f>analysis!$C$92:$C$98</c:f>
              <c:numCache>
                <c:formatCode>_(* #,##0_);_(* \(#,##0\);_(* "-"??_);_(@_)</c:formatCode>
                <c:ptCount val="7"/>
                <c:pt idx="0">
                  <c:v>5252</c:v>
                </c:pt>
                <c:pt idx="1">
                  <c:v>7825</c:v>
                </c:pt>
                <c:pt idx="2">
                  <c:v>7626</c:v>
                </c:pt>
                <c:pt idx="3">
                  <c:v>3112</c:v>
                </c:pt>
                <c:pt idx="4">
                  <c:v>1864</c:v>
                </c:pt>
                <c:pt idx="5">
                  <c:v>918</c:v>
                </c:pt>
                <c:pt idx="6">
                  <c:v>728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analysis!$D$92:$D$98</c15:f>
                <c15:dlblRangeCache>
                  <c:ptCount val="7"/>
                  <c:pt idx="0">
                    <c:v>19.2%</c:v>
                  </c:pt>
                  <c:pt idx="1">
                    <c:v>28.6%</c:v>
                  </c:pt>
                  <c:pt idx="2">
                    <c:v>27.9%</c:v>
                  </c:pt>
                  <c:pt idx="3">
                    <c:v>11.4%</c:v>
                  </c:pt>
                  <c:pt idx="4">
                    <c:v>6.8%</c:v>
                  </c:pt>
                  <c:pt idx="5">
                    <c:v>3.4%</c:v>
                  </c:pt>
                  <c:pt idx="6">
                    <c:v>2.7%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1-46E3-4C95-BA85-A5709AD815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1647070463"/>
        <c:axId val="1647067103"/>
      </c:barChart>
      <c:catAx>
        <c:axId val="16470704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Salary Range</a:t>
                </a:r>
              </a:p>
            </c:rich>
          </c:tx>
          <c:layout>
            <c:manualLayout>
              <c:xMode val="edge"/>
              <c:yMode val="edge"/>
              <c:x val="0.28158760271261524"/>
              <c:y val="0.94656105975309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647067103"/>
        <c:crosses val="autoZero"/>
        <c:auto val="1"/>
        <c:lblAlgn val="ctr"/>
        <c:lblOffset val="100"/>
        <c:noMultiLvlLbl val="0"/>
      </c:catAx>
      <c:valAx>
        <c:axId val="1647067103"/>
        <c:scaling>
          <c:orientation val="minMax"/>
          <c:max val="8000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#</a:t>
                </a:r>
                <a:r>
                  <a:rPr lang="en-US" b="1" baseline="0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of Pensioners</a:t>
                </a:r>
                <a:endParaRPr lang="en-US" b="1" dirty="0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_(* #,##0_);_(* \(#,##0\);_(* &quot;-&quot;??_);_(@_)" sourceLinked="1"/>
        <c:majorTickMark val="none"/>
        <c:minorTickMark val="none"/>
        <c:tickLblPos val="nextTo"/>
        <c:crossAx val="1647070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8781478229805335E-2"/>
          <c:y val="0.33738671496750311"/>
          <c:w val="0.90066306393213991"/>
          <c:h val="0.501560439363646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analysis!$C$103</c:f>
              <c:strCache>
                <c:ptCount val="1"/>
                <c:pt idx="0">
                  <c:v>Total Salary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10957F">
                  <a:alpha val="2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87-4074-9CFD-1DA35BB42DAC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C87-4074-9CFD-1DA35BB4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analysis!$B$104:$B$110</c:f>
              <c:strCache>
                <c:ptCount val="7"/>
                <c:pt idx="0">
                  <c:v>0k-50k</c:v>
                </c:pt>
                <c:pt idx="1">
                  <c:v>50k-100k</c:v>
                </c:pt>
                <c:pt idx="2">
                  <c:v>100k-150k</c:v>
                </c:pt>
                <c:pt idx="3">
                  <c:v>150k-200k</c:v>
                </c:pt>
                <c:pt idx="4">
                  <c:v>200k-250k</c:v>
                </c:pt>
                <c:pt idx="5">
                  <c:v>250k-300k</c:v>
                </c:pt>
                <c:pt idx="6">
                  <c:v>300k+</c:v>
                </c:pt>
              </c:strCache>
            </c:strRef>
          </c:cat>
          <c:val>
            <c:numRef>
              <c:f>analysis!$C$104:$C$110</c:f>
              <c:numCache>
                <c:formatCode>0.0,,,"B"</c:formatCode>
                <c:ptCount val="7"/>
                <c:pt idx="0">
                  <c:v>156484263.72</c:v>
                </c:pt>
                <c:pt idx="1">
                  <c:v>581911278.26999998</c:v>
                </c:pt>
                <c:pt idx="2">
                  <c:v>932654545.13999999</c:v>
                </c:pt>
                <c:pt idx="3">
                  <c:v>537880798.49000001</c:v>
                </c:pt>
                <c:pt idx="4">
                  <c:v>418959393.12</c:v>
                </c:pt>
                <c:pt idx="5">
                  <c:v>247069275</c:v>
                </c:pt>
                <c:pt idx="6">
                  <c:v>355164560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87-4074-9CFD-1DA35BB42DAC}"/>
            </c:ext>
          </c:extLst>
        </c:ser>
        <c:ser>
          <c:idx val="1"/>
          <c:order val="1"/>
          <c:tx>
            <c:strRef>
              <c:f>analysis!$C$103</c:f>
              <c:strCache>
                <c:ptCount val="1"/>
                <c:pt idx="0">
                  <c:v>Total Salary</c:v>
                </c:pt>
              </c:strCache>
            </c:strRef>
          </c:tx>
          <c:spPr>
            <a:solidFill>
              <a:srgbClr val="10957F">
                <a:alpha val="2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109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C87-4074-9CFD-1DA35BB42DA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7704DF2-396D-4EF5-BA19-E7F7B75AD74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C87-4074-9CFD-1DA35BB42DA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7D29CC0-EBA8-46BE-9959-043090D4F80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4C87-4074-9CFD-1DA35BB42DAC}"/>
                </c:ext>
              </c:extLst>
            </c:dLbl>
            <c:dLbl>
              <c:idx val="2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10957F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defRPr>
                    </a:pPr>
                    <a:fld id="{6091FE85-0EEE-4986-AB59-D28D346174F7}" type="CELLRANGE">
                      <a:rPr lang="en-US"/>
                      <a:pPr>
                        <a:defRPr b="1">
                          <a:solidFill>
                            <a:srgbClr val="10957F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defRPr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10957F"/>
                      </a:solidFill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4C87-4074-9CFD-1DA35BB42DA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4514E4B2-6BFC-4D37-B008-794DC2BA4A7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4C87-4074-9CFD-1DA35BB42DA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D81F4FE-FCF6-4BBB-9C79-A29F4B5D7F8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4C87-4074-9CFD-1DA35BB42DA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1D9834B4-0BAC-4411-8683-1AA9E5DF7B5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4C87-4074-9CFD-1DA35BB42DA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EC64E108-6744-467F-9558-EB12465CF867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4C87-4074-9CFD-1DA35BB4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analysis!$B$104:$B$110</c:f>
              <c:strCache>
                <c:ptCount val="7"/>
                <c:pt idx="0">
                  <c:v>0k-50k</c:v>
                </c:pt>
                <c:pt idx="1">
                  <c:v>50k-100k</c:v>
                </c:pt>
                <c:pt idx="2">
                  <c:v>100k-150k</c:v>
                </c:pt>
                <c:pt idx="3">
                  <c:v>150k-200k</c:v>
                </c:pt>
                <c:pt idx="4">
                  <c:v>200k-250k</c:v>
                </c:pt>
                <c:pt idx="5">
                  <c:v>250k-300k</c:v>
                </c:pt>
                <c:pt idx="6">
                  <c:v>300k+</c:v>
                </c:pt>
              </c:strCache>
            </c:strRef>
          </c:cat>
          <c:val>
            <c:numRef>
              <c:f>analysis!$C$104:$C$110</c:f>
              <c:numCache>
                <c:formatCode>0.0,,,"B"</c:formatCode>
                <c:ptCount val="7"/>
                <c:pt idx="0">
                  <c:v>156484263.72</c:v>
                </c:pt>
                <c:pt idx="1">
                  <c:v>581911278.26999998</c:v>
                </c:pt>
                <c:pt idx="2">
                  <c:v>932654545.13999999</c:v>
                </c:pt>
                <c:pt idx="3">
                  <c:v>537880798.49000001</c:v>
                </c:pt>
                <c:pt idx="4">
                  <c:v>418959393.12</c:v>
                </c:pt>
                <c:pt idx="5">
                  <c:v>247069275</c:v>
                </c:pt>
                <c:pt idx="6">
                  <c:v>355164560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analysis!$D$104:$D$110</c15:f>
                <c15:dlblRangeCache>
                  <c:ptCount val="7"/>
                  <c:pt idx="0">
                    <c:v>4.8%</c:v>
                  </c:pt>
                  <c:pt idx="1">
                    <c:v>18.0%</c:v>
                  </c:pt>
                  <c:pt idx="2">
                    <c:v>28.9%</c:v>
                  </c:pt>
                  <c:pt idx="3">
                    <c:v>16.7%</c:v>
                  </c:pt>
                  <c:pt idx="4">
                    <c:v>13.0%</c:v>
                  </c:pt>
                  <c:pt idx="5">
                    <c:v>7.6%</c:v>
                  </c:pt>
                  <c:pt idx="6">
                    <c:v>11.0%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B-4C87-4074-9CFD-1DA35BB42D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100"/>
        <c:axId val="1647062783"/>
        <c:axId val="1647079583"/>
      </c:barChart>
      <c:catAx>
        <c:axId val="164706278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Salary Range</a:t>
                </a:r>
              </a:p>
            </c:rich>
          </c:tx>
          <c:layout>
            <c:manualLayout>
              <c:xMode val="edge"/>
              <c:yMode val="edge"/>
              <c:x val="0.31616375179018985"/>
              <c:y val="0.945501408987588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333333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647079583"/>
        <c:crosses val="autoZero"/>
        <c:auto val="1"/>
        <c:lblAlgn val="ctr"/>
        <c:lblOffset val="100"/>
        <c:noMultiLvlLbl val="0"/>
      </c:catAx>
      <c:valAx>
        <c:axId val="164707958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333333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pPr>
                <a:r>
                  <a:rPr lang="en-US" b="1" dirty="0">
                    <a:solidFill>
                      <a:srgbClr val="333333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Total Salary (MMK)</a:t>
                </a:r>
              </a:p>
            </c:rich>
          </c:tx>
          <c:layout>
            <c:manualLayout>
              <c:xMode val="edge"/>
              <c:yMode val="edge"/>
              <c:x val="1.0725995465949758E-2"/>
              <c:y val="0.410801172216274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333333"/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pPr>
              <a:endParaRPr lang="en-US"/>
            </a:p>
          </c:txPr>
        </c:title>
        <c:numFmt formatCode="0.0,,,&quot;B&quot;" sourceLinked="1"/>
        <c:majorTickMark val="none"/>
        <c:minorTickMark val="none"/>
        <c:tickLblPos val="nextTo"/>
        <c:crossAx val="1647062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0.0138</cdr:x>
      <cdr:y>0.01852</cdr:y>
    </cdr:from>
    <cdr:to>
      <cdr:x>1</cdr:x>
      <cdr:y>0.15974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3ABEF00-5109-F93C-172F-5988151A31E8}"/>
            </a:ext>
          </a:extLst>
        </cdr:cNvPr>
        <cdr:cNvSpPr txBox="1"/>
      </cdr:nvSpPr>
      <cdr:spPr>
        <a:xfrm xmlns:a="http://schemas.openxmlformats.org/drawingml/2006/main">
          <a:off x="48512" y="78967"/>
          <a:ext cx="3466243" cy="60217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 anchor="ctr"/>
        <a:lstStyle xmlns:a="http://schemas.openxmlformats.org/drawingml/2006/main">
          <a:defPPr>
            <a:defRPr lang="en-US"/>
          </a:defPPr>
          <a:lvl1pPr marL="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400" b="1" i="0" dirty="0">
              <a:latin typeface="Segoe UI" panose="020B0502040204020203" pitchFamily="34" charset="0"/>
              <a:cs typeface="Segoe UI" panose="020B0502040204020203" pitchFamily="34" charset="0"/>
            </a:rPr>
            <a:t>Over half </a:t>
          </a:r>
          <a:r>
            <a:rPr lang="en-US" sz="1400" b="1" i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(52.3%) </a:t>
          </a:r>
          <a:r>
            <a:rPr lang="en-US" sz="1400" b="0" i="0" dirty="0">
              <a:latin typeface="Segoe UI" panose="020B0502040204020203" pitchFamily="34" charset="0"/>
              <a:cs typeface="Segoe UI" panose="020B0502040204020203" pitchFamily="34" charset="0"/>
            </a:rPr>
            <a:t>of pensioners are the </a:t>
          </a:r>
          <a:r>
            <a:rPr lang="en-US" sz="1400" b="1" i="0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Defense</a:t>
          </a:r>
          <a:r>
            <a:rPr lang="en-US" sz="1400" b="1" i="0" baseline="0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 pensioners</a:t>
          </a:r>
          <a:endParaRPr lang="en-US" sz="1400" b="1" i="0" dirty="0">
            <a:solidFill>
              <a:srgbClr val="10957F"/>
            </a:solidFill>
            <a:effectLst/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0.02791</cdr:x>
      <cdr:y>0.2006</cdr:y>
    </cdr:from>
    <cdr:to>
      <cdr:x>1</cdr:x>
      <cdr:y>0.26827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96092806-ADDF-7D8A-D9B4-9574D554B3FA}"/>
            </a:ext>
          </a:extLst>
        </cdr:cNvPr>
        <cdr:cNvSpPr txBox="1"/>
      </cdr:nvSpPr>
      <cdr:spPr>
        <a:xfrm xmlns:a="http://schemas.openxmlformats.org/drawingml/2006/main">
          <a:off x="94922" y="863849"/>
          <a:ext cx="3306068" cy="29140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0" kern="1200" dirty="0">
              <a:latin typeface="Segoe UI" panose="020B0502040204020203" pitchFamily="34" charset="0"/>
              <a:cs typeface="Segoe UI" panose="020B0502040204020203" pitchFamily="34" charset="0"/>
            </a:rPr>
            <a:t>Pensioner Proportion by Pension Group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0.01417</cdr:x>
      <cdr:y>0.03279</cdr:y>
    </cdr:from>
    <cdr:to>
      <cdr:x>1</cdr:x>
      <cdr:y>0.1517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E94F140-3C86-CC01-2927-6B38E507B9DA}"/>
            </a:ext>
          </a:extLst>
        </cdr:cNvPr>
        <cdr:cNvSpPr txBox="1"/>
      </cdr:nvSpPr>
      <cdr:spPr>
        <a:xfrm xmlns:a="http://schemas.openxmlformats.org/drawingml/2006/main">
          <a:off x="44579" y="152213"/>
          <a:ext cx="3102481" cy="5519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Defense Pensioners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Account for </a:t>
          </a:r>
          <a:r>
            <a:rPr lang="en-US" sz="1400" b="1" dirty="0">
              <a:latin typeface="Segoe UI" panose="020B0502040204020203" pitchFamily="34" charset="0"/>
              <a:cs typeface="Segoe UI" panose="020B0502040204020203" pitchFamily="34" charset="0"/>
            </a:rPr>
            <a:t>63.2%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 of Total Salary</a:t>
          </a:r>
          <a:endParaRPr lang="en-US" sz="1400" kern="1200" dirty="0"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0.06562</cdr:x>
      <cdr:y>0.21425</cdr:y>
    </cdr:from>
    <cdr:to>
      <cdr:x>1</cdr:x>
      <cdr:y>0.29039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6EB8B5DC-4741-F482-F60B-2DE1E6279018}"/>
            </a:ext>
          </a:extLst>
        </cdr:cNvPr>
        <cdr:cNvSpPr txBox="1"/>
      </cdr:nvSpPr>
      <cdr:spPr>
        <a:xfrm xmlns:a="http://schemas.openxmlformats.org/drawingml/2006/main">
          <a:off x="216189" y="922650"/>
          <a:ext cx="3078371" cy="32788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0" i="0" kern="1200" dirty="0">
              <a:latin typeface="Segoe UI" panose="020B0502040204020203" pitchFamily="34" charset="0"/>
              <a:cs typeface="Segoe UI" panose="020B0502040204020203" pitchFamily="34" charset="0"/>
            </a:rPr>
            <a:t>Total</a:t>
          </a:r>
          <a:r>
            <a:rPr lang="en-US" sz="1200" b="0" i="0" kern="1200" baseline="0" dirty="0">
              <a:latin typeface="Segoe UI" panose="020B0502040204020203" pitchFamily="34" charset="0"/>
              <a:cs typeface="Segoe UI" panose="020B0502040204020203" pitchFamily="34" charset="0"/>
            </a:rPr>
            <a:t> salary by Pension Group</a:t>
          </a:r>
          <a:endParaRPr lang="en-US" sz="1200" b="0" i="0" kern="1200" dirty="0"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0.01172</cdr:y>
    </cdr:from>
    <cdr:to>
      <cdr:x>1</cdr:x>
      <cdr:y>0.18453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6E48DCF-38A8-7BA5-E19A-8CE3669720DB}"/>
            </a:ext>
          </a:extLst>
        </cdr:cNvPr>
        <cdr:cNvSpPr txBox="1"/>
      </cdr:nvSpPr>
      <cdr:spPr>
        <a:xfrm xmlns:a="http://schemas.openxmlformats.org/drawingml/2006/main">
          <a:off x="0" y="46420"/>
          <a:ext cx="3294561" cy="68452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defPPr>
            <a:defRPr lang="en-US"/>
          </a:defPPr>
          <a:lvl1pPr marL="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1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50000"/>
            </a:lnSpc>
          </a:pPr>
          <a:r>
            <a:rPr lang="en-US" sz="1400" b="1" i="0" kern="1200" baseline="0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Defense pensioners </a:t>
          </a:r>
          <a:r>
            <a:rPr lang="en-US" sz="1400" b="0" i="0" kern="1200" baseline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have the highest average salary at </a:t>
          </a:r>
          <a:r>
            <a:rPr lang="en-US" sz="1400" b="1" i="0" kern="1200" baseline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MMK 127,200</a:t>
          </a:r>
          <a:endParaRPr lang="en-US" sz="1400" b="1" i="0" kern="1200" dirty="0">
            <a:solidFill>
              <a:srgbClr val="333333"/>
            </a:solidFill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0.03927</cdr:x>
      <cdr:y>0.21571</cdr:y>
    </cdr:from>
    <cdr:to>
      <cdr:x>1</cdr:x>
      <cdr:y>0.28795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AAD700B8-FBC0-5BB9-2EDF-9E82EF576A44}"/>
            </a:ext>
          </a:extLst>
        </cdr:cNvPr>
        <cdr:cNvSpPr txBox="1"/>
      </cdr:nvSpPr>
      <cdr:spPr>
        <a:xfrm xmlns:a="http://schemas.openxmlformats.org/drawingml/2006/main">
          <a:off x="129377" y="928920"/>
          <a:ext cx="3165184" cy="31108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0" i="0" kern="12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Average Salary by Pension</a:t>
          </a:r>
          <a:r>
            <a:rPr lang="en-US" sz="1200" b="0" i="0" kern="1200" baseline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 Group</a:t>
          </a:r>
          <a:endParaRPr lang="en-US" sz="1200" b="0" i="0" kern="1200" dirty="0">
            <a:solidFill>
              <a:srgbClr val="333333"/>
            </a:solidFill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0.01283</cdr:y>
    </cdr:from>
    <cdr:to>
      <cdr:x>1</cdr:x>
      <cdr:y>0.13267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4D8F797-5F3A-26D0-AB0E-3420F9F070FD}"/>
            </a:ext>
          </a:extLst>
        </cdr:cNvPr>
        <cdr:cNvSpPr txBox="1"/>
      </cdr:nvSpPr>
      <cdr:spPr>
        <a:xfrm xmlns:a="http://schemas.openxmlformats.org/drawingml/2006/main">
          <a:off x="0" y="51629"/>
          <a:ext cx="7346372" cy="4820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0" i="0" kern="12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Pensioners Proportion(%) by Pension Group and Branch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0.04318</cdr:x>
      <cdr:y>0.13829</cdr:y>
    </cdr:from>
    <cdr:to>
      <cdr:x>0.95681</cdr:x>
      <cdr:y>0.22743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977DE010-7030-5A75-9114-AC0396043933}"/>
            </a:ext>
          </a:extLst>
        </cdr:cNvPr>
        <cdr:cNvSpPr txBox="1"/>
      </cdr:nvSpPr>
      <cdr:spPr>
        <a:xfrm xmlns:a="http://schemas.openxmlformats.org/drawingml/2006/main">
          <a:off x="137619" y="601333"/>
          <a:ext cx="2911513" cy="3876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b="0" i="0" dirty="0"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rPr>
            <a:t>Pensioner</a:t>
          </a:r>
          <a:r>
            <a:rPr lang="en-US" sz="1200" b="0" i="0" baseline="0" dirty="0"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rPr>
            <a:t> Proportion by Branch</a:t>
          </a:r>
          <a:endParaRPr lang="en-US" sz="1200" b="0" i="0" dirty="0">
            <a:solidFill>
              <a:srgbClr val="333333"/>
            </a:solidFill>
            <a:effectLst/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</cdr:x>
      <cdr:y>0</cdr:y>
    </cdr:from>
    <cdr:to>
      <cdr:x>1</cdr:x>
      <cdr:y>0.11719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52D37309-25F3-1A15-47A8-44E76273F188}"/>
            </a:ext>
          </a:extLst>
        </cdr:cNvPr>
        <cdr:cNvSpPr txBox="1"/>
      </cdr:nvSpPr>
      <cdr:spPr>
        <a:xfrm xmlns:a="http://schemas.openxmlformats.org/drawingml/2006/main">
          <a:off x="0" y="0"/>
          <a:ext cx="3186753" cy="4472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  <cdr:relSizeAnchor xmlns:cdr="http://schemas.openxmlformats.org/drawingml/2006/chartDrawing">
    <cdr:from>
      <cdr:x>0</cdr:x>
      <cdr:y>2.29972E-7</cdr:y>
    </cdr:from>
    <cdr:to>
      <cdr:x>1</cdr:x>
      <cdr:y>0.13829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55D20A41-EAEE-6643-F84B-404EC235F0AE}"/>
            </a:ext>
          </a:extLst>
        </cdr:cNvPr>
        <cdr:cNvSpPr txBox="1"/>
      </cdr:nvSpPr>
      <cdr:spPr>
        <a:xfrm xmlns:a="http://schemas.openxmlformats.org/drawingml/2006/main">
          <a:off x="0" y="1"/>
          <a:ext cx="3186753" cy="60133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l" rtl="0"/>
          <a:r>
            <a:rPr lang="en-US" sz="1400" b="1" dirty="0">
              <a:latin typeface="Segoe UI" panose="020B0502040204020203" pitchFamily="34" charset="0"/>
              <a:cs typeface="Segoe UI" panose="020B0502040204020203" pitchFamily="34" charset="0"/>
            </a:rPr>
            <a:t>Over half (55.1%)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of pensioners belong to the </a:t>
          </a:r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Pyinmana branch</a:t>
          </a:r>
        </a:p>
        <a:p xmlns:a="http://schemas.openxmlformats.org/drawingml/2006/main">
          <a:endParaRPr lang="en-US" sz="1400" kern="12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0.08615</cdr:x>
      <cdr:y>0.13829</cdr:y>
    </cdr:from>
    <cdr:to>
      <cdr:x>0.8405</cdr:x>
      <cdr:y>0.22743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E36C68FA-3CA0-59AD-D1BA-3571DAE9F769}"/>
            </a:ext>
          </a:extLst>
        </cdr:cNvPr>
        <cdr:cNvSpPr txBox="1"/>
      </cdr:nvSpPr>
      <cdr:spPr>
        <a:xfrm xmlns:a="http://schemas.openxmlformats.org/drawingml/2006/main">
          <a:off x="295328" y="601341"/>
          <a:ext cx="2585883" cy="38760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b="0" i="0" kern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Total</a:t>
          </a:r>
          <a:r>
            <a:rPr lang="en-US" sz="1200" b="0" i="0" kern="0" baseline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 Salary by Branch</a:t>
          </a:r>
          <a:endParaRPr lang="en-US" sz="1200" b="0" i="0" kern="1200" dirty="0">
            <a:solidFill>
              <a:srgbClr val="333333"/>
            </a:solidFill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0.03029</cdr:x>
      <cdr:y>0</cdr:y>
    </cdr:from>
    <cdr:to>
      <cdr:x>0.96971</cdr:x>
      <cdr:y>0.13802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13A9AA9A-6452-9113-38B4-9B2285C72AC5}"/>
            </a:ext>
          </a:extLst>
        </cdr:cNvPr>
        <cdr:cNvSpPr txBox="1"/>
      </cdr:nvSpPr>
      <cdr:spPr>
        <a:xfrm xmlns:a="http://schemas.openxmlformats.org/drawingml/2006/main">
          <a:off x="103842" y="0"/>
          <a:ext cx="3220278" cy="52677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Pyinmana's</a:t>
          </a:r>
          <a:r>
            <a:rPr lang="en-US" sz="1400" b="1" dirty="0">
              <a:solidFill>
                <a:srgbClr val="1F3C88"/>
              </a:solidFill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highest total salary is due to Its </a:t>
          </a:r>
          <a:r>
            <a:rPr lang="en-US" sz="1400" b="1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highest pensioner count</a:t>
          </a:r>
          <a:endParaRPr lang="en-US" sz="1400" b="1" kern="1200" dirty="0">
            <a:solidFill>
              <a:srgbClr val="333333"/>
            </a:solidFill>
            <a:latin typeface="Segoe UI" panose="020B0502040204020203" pitchFamily="34" charset="0"/>
            <a:cs typeface="Segoe UI" panose="020B0502040204020203" pitchFamily="34" charset="0"/>
          </a:endParaRPr>
        </a:p>
        <a:p xmlns:a="http://schemas.openxmlformats.org/drawingml/2006/main">
          <a:endParaRPr lang="en-US" sz="1400" kern="1200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0.99838</cdr:x>
      <cdr:y>0.14062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E9F430EE-5740-38CB-7853-85B2CFA4B527}"/>
            </a:ext>
          </a:extLst>
        </cdr:cNvPr>
        <cdr:cNvSpPr txBox="1"/>
      </cdr:nvSpPr>
      <cdr:spPr>
        <a:xfrm xmlns:a="http://schemas.openxmlformats.org/drawingml/2006/main">
          <a:off x="0" y="0"/>
          <a:ext cx="3500172" cy="5367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400" b="1" dirty="0" err="1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Pokebathiri</a:t>
          </a:r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 branch</a:t>
          </a:r>
          <a:r>
            <a:rPr lang="en-US" sz="1400" b="1" baseline="0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pensioners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have the highest average salary at </a:t>
          </a:r>
          <a:r>
            <a:rPr lang="en-US" sz="1400" b="1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MMK 149,066</a:t>
          </a:r>
          <a:endParaRPr lang="en-US" sz="1400" b="1" i="0" dirty="0">
            <a:solidFill>
              <a:srgbClr val="333333"/>
            </a:solidFill>
            <a:effectLst/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0.05025</cdr:x>
      <cdr:y>0.13829</cdr:y>
    </cdr:from>
    <cdr:to>
      <cdr:x>0.94975</cdr:x>
      <cdr:y>0.22743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B1CAE230-A87A-9CFF-DD98-F8D49AE352D0}"/>
            </a:ext>
          </a:extLst>
        </cdr:cNvPr>
        <cdr:cNvSpPr txBox="1"/>
      </cdr:nvSpPr>
      <cdr:spPr>
        <a:xfrm xmlns:a="http://schemas.openxmlformats.org/drawingml/2006/main">
          <a:off x="176168" y="601345"/>
          <a:ext cx="3153509" cy="38759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b="0" i="0" dirty="0">
              <a:effectLst/>
              <a:latin typeface="Segoe UI" panose="020B0502040204020203" pitchFamily="34" charset="0"/>
              <a:cs typeface="Segoe UI" panose="020B0502040204020203" pitchFamily="34" charset="0"/>
            </a:rPr>
            <a:t>Average</a:t>
          </a:r>
          <a:r>
            <a:rPr lang="en-US" sz="1200" b="0" i="0" baseline="0" dirty="0">
              <a:effectLst/>
              <a:latin typeface="Segoe UI" panose="020B0502040204020203" pitchFamily="34" charset="0"/>
              <a:cs typeface="Segoe UI" panose="020B0502040204020203" pitchFamily="34" charset="0"/>
            </a:rPr>
            <a:t> Salary by Branch</a:t>
          </a:r>
          <a:endParaRPr lang="en-US" sz="1200" b="0" i="0" dirty="0">
            <a:effectLst/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0.00948</cdr:y>
    </cdr:from>
    <cdr:to>
      <cdr:x>1</cdr:x>
      <cdr:y>0.09049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D4EFBC8-7B11-DCEB-DF37-7D881820CAEE}"/>
            </a:ext>
          </a:extLst>
        </cdr:cNvPr>
        <cdr:cNvSpPr txBox="1"/>
      </cdr:nvSpPr>
      <cdr:spPr>
        <a:xfrm xmlns:a="http://schemas.openxmlformats.org/drawingml/2006/main">
          <a:off x="0" y="35887"/>
          <a:ext cx="4939145" cy="30681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400" b="1" i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75.8% of pensioners </a:t>
          </a:r>
          <a:r>
            <a:rPr lang="en-US" sz="1400" b="0" i="0" dirty="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rPr>
            <a:t>e</a:t>
          </a:r>
          <a:r>
            <a:rPr lang="en-US" sz="1400" b="0" i="0" dirty="0">
              <a:latin typeface="Segoe UI" panose="020B0502040204020203" pitchFamily="34" charset="0"/>
              <a:cs typeface="Segoe UI" panose="020B0502040204020203" pitchFamily="34" charset="0"/>
            </a:rPr>
            <a:t>arn </a:t>
          </a:r>
          <a:r>
            <a:rPr lang="en-US" sz="1400" b="1" i="0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between</a:t>
          </a:r>
          <a:r>
            <a:rPr lang="en-US" sz="1400" b="1" i="0" baseline="0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 MMK (0-150,000)</a:t>
          </a:r>
          <a:endParaRPr lang="en-US" sz="1400" b="1" i="0" dirty="0">
            <a:solidFill>
              <a:srgbClr val="10957F"/>
            </a:solidFill>
            <a:effectLst/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0.05943</cdr:x>
      <cdr:y>0.18321</cdr:y>
    </cdr:from>
    <cdr:to>
      <cdr:x>0.77005</cdr:x>
      <cdr:y>0.27871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D0C1DE0D-B58C-C09B-2306-503800F30500}"/>
            </a:ext>
          </a:extLst>
        </cdr:cNvPr>
        <cdr:cNvSpPr txBox="1"/>
      </cdr:nvSpPr>
      <cdr:spPr>
        <a:xfrm xmlns:a="http://schemas.openxmlformats.org/drawingml/2006/main">
          <a:off x="293522" y="716141"/>
          <a:ext cx="3509855" cy="37329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200" b="0" i="0" dirty="0">
              <a:latin typeface="Segoe UI" panose="020B0502040204020203" pitchFamily="34" charset="0"/>
              <a:cs typeface="Segoe UI" panose="020B0502040204020203" pitchFamily="34" charset="0"/>
            </a:rPr>
            <a:t>Pensioner Distribution by Salary Range</a:t>
          </a:r>
          <a:endParaRPr lang="en-US" sz="1200" b="0" i="0" dirty="0">
            <a:solidFill>
              <a:srgbClr val="333333"/>
            </a:solidFill>
            <a:effectLst/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0.13973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F987B515-2075-12AA-F021-39F20274E2A0}"/>
            </a:ext>
          </a:extLst>
        </cdr:cNvPr>
        <cdr:cNvSpPr txBox="1"/>
      </cdr:nvSpPr>
      <cdr:spPr>
        <a:xfrm xmlns:a="http://schemas.openxmlformats.org/drawingml/2006/main">
          <a:off x="0" y="0"/>
          <a:ext cx="5315777" cy="52919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The </a:t>
          </a:r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MMK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r>
            <a:rPr lang="en-US" sz="1400" b="1" dirty="0">
              <a:solidFill>
                <a:srgbClr val="10957F"/>
              </a:solidFill>
              <a:latin typeface="Segoe UI" panose="020B0502040204020203" pitchFamily="34" charset="0"/>
              <a:cs typeface="Segoe UI" panose="020B0502040204020203" pitchFamily="34" charset="0"/>
            </a:rPr>
            <a:t>100,000–150,000 segment </a:t>
          </a:r>
          <a:r>
            <a:rPr lang="en-US" sz="1400" dirty="0">
              <a:latin typeface="Segoe UI" panose="020B0502040204020203" pitchFamily="34" charset="0"/>
              <a:cs typeface="Segoe UI" panose="020B0502040204020203" pitchFamily="34" charset="0"/>
            </a:rPr>
            <a:t>contributing the largest share of total salary</a:t>
          </a:r>
          <a:endParaRPr lang="en-US" sz="1400" b="1" i="0" kern="1200" dirty="0">
            <a:solidFill>
              <a:srgbClr val="10957F"/>
            </a:solidFill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  <cdr:relSizeAnchor xmlns:cdr="http://schemas.openxmlformats.org/drawingml/2006/chartDrawing">
    <cdr:from>
      <cdr:x>0.0662</cdr:x>
      <cdr:y>0.18835</cdr:y>
    </cdr:from>
    <cdr:to>
      <cdr:x>0.86216</cdr:x>
      <cdr:y>0.27871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7FB09EB7-4122-76E6-2961-1B75AB865B84}"/>
            </a:ext>
          </a:extLst>
        </cdr:cNvPr>
        <cdr:cNvSpPr txBox="1"/>
      </cdr:nvSpPr>
      <cdr:spPr>
        <a:xfrm xmlns:a="http://schemas.openxmlformats.org/drawingml/2006/main">
          <a:off x="351904" y="736224"/>
          <a:ext cx="4231146" cy="35321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0" i="0" kern="120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Total Salary</a:t>
          </a:r>
          <a:r>
            <a:rPr lang="en-US" sz="1200" b="0" i="0" kern="1200" baseline="0" dirty="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rPr>
            <a:t> by Salary Range</a:t>
          </a:r>
          <a:endParaRPr lang="en-US" sz="1200" b="0" i="0" kern="1200" dirty="0">
            <a:solidFill>
              <a:srgbClr val="333333"/>
            </a:solidFill>
            <a:latin typeface="Segoe UI" panose="020B0502040204020203" pitchFamily="34" charset="0"/>
            <a:cs typeface="Segoe UI" panose="020B0502040204020203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D7F1AD-706D-3159-F003-7ABE578F26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446C1-9DD0-D112-0D48-A64F8F00C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31D85-A7DB-FB1C-B411-25F08183D8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DB850-5C02-4815-AC6F-674B7CB43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216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00859-63C1-4725-A939-23C9ADBC4AA5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3796A-31FE-48E3-B8D3-0E9F0F781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85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3796A-31FE-48E3-B8D3-0E9F0F7811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4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28F46C1-77A5-3E24-E0DA-0894217D3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591" y="6344818"/>
            <a:ext cx="944621" cy="30791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6DF278-178A-06AF-1C0B-C31A6645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6740" y="6378869"/>
            <a:ext cx="371669" cy="261610"/>
          </a:xfrm>
          <a:prstGeom prst="rect">
            <a:avLst/>
          </a:prstGeom>
        </p:spPr>
        <p:txBody>
          <a:bodyPr/>
          <a:lstStyle>
            <a:lvl1pPr>
              <a:defRPr sz="800" i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5235B21D-7B2D-4257-8AC0-2F7E4324FC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4C922-2A76-FFC7-020B-DE51FD2D8AFA}"/>
              </a:ext>
            </a:extLst>
          </p:cNvPr>
          <p:cNvSpPr txBox="1"/>
          <p:nvPr userDrawn="1"/>
        </p:nvSpPr>
        <p:spPr>
          <a:xfrm>
            <a:off x="10721066" y="6432128"/>
            <a:ext cx="4951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i="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Slide:</a:t>
            </a:r>
          </a:p>
        </p:txBody>
      </p:sp>
    </p:spTree>
    <p:extLst>
      <p:ext uri="{BB962C8B-B14F-4D97-AF65-F5344CB8AC3E}">
        <p14:creationId xmlns:p14="http://schemas.microsoft.com/office/powerpoint/2010/main" val="3388137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6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C432-D58A-9C76-A302-B2716ABC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F56A8-D751-CE25-6003-C020F9F8B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052AC-DDF6-5F0B-6EB9-3CE7A2458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A5110-3E11-BAD4-042E-C7C314E1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BAB7D-9BE6-4E21-93AC-470F61F5CE0C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D800C-64E7-4D21-917B-E66D7E4F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6ADDB-B59C-E9B5-6F98-5D057BD9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35B21D-7B2D-4257-8AC0-2F7E4324F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56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E2EC-8B52-B3D0-2D16-943C559A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5A98D-526A-EF92-2475-EDC07C65D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4BD40-00A9-95AA-28C9-1C6ABB316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22B57-42C9-F835-5E3B-F2734730D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EDE9-72C7-4656-B5B3-47ABACFAB752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CFDBF-4339-6258-87FB-39F24D2F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32E54-5CC6-322A-DB10-8C36CBDA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35B21D-7B2D-4257-8AC0-2F7E4324F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4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CD52-E4EA-BD1E-8F28-DA0B91E9D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2E95F-0ADC-F98B-F0B9-8976C09DA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5EA43-4C8A-410A-4AC2-289D4576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5BC4F-CEA2-4A58-8223-A6AF45A792F0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2223-4EAD-7AF4-607F-B2204D80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2FBEC-29E3-CD48-F645-A9055CFD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35B21D-7B2D-4257-8AC0-2F7E4324F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5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EA096-D2D3-83ED-C508-24C231BFC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C093E-48B7-D65D-D233-6B07AC051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3A675-63E5-4EE6-5D58-3F5F4396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1C6D-EEEC-4133-A5FB-3AB5094E77E5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21875-69DB-FB1D-1231-45221BFD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5B1DD-A13B-92F1-92E7-A0BB887F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235B21D-7B2D-4257-8AC0-2F7E4324F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8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E8D5-2C00-DB9E-820E-731D75F4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68AFC-5994-AAB2-3D6F-AB90BB7CC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146B-86E6-FE4E-3274-834E748D0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733AC-8A95-4023-8B11-336151BAE5AF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6CA8B-EE5D-D836-435A-70367801B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43BBB-98FE-7B00-6B9F-AB990210A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5B21D-7B2D-4257-8AC0-2F7E4324F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02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8821-63F0-5FCE-DC5A-09518B68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F3E6F3-95C5-C26E-042B-BB43EA5A3558}"/>
              </a:ext>
            </a:extLst>
          </p:cNvPr>
          <p:cNvSpPr txBox="1"/>
          <p:nvPr/>
        </p:nvSpPr>
        <p:spPr>
          <a:xfrm>
            <a:off x="3025486" y="1615039"/>
            <a:ext cx="6141027" cy="13047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Pensioner Distribution and Salary Analysis Report (Naypyitaw)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04D40-1782-7B44-1F87-0E5B87E0A8F5}"/>
              </a:ext>
            </a:extLst>
          </p:cNvPr>
          <p:cNvSpPr txBox="1"/>
          <p:nvPr/>
        </p:nvSpPr>
        <p:spPr>
          <a:xfrm>
            <a:off x="2705926" y="3439706"/>
            <a:ext cx="678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Key insights on pensioner groups, branches, and salary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B7742-76AD-CFF3-ACF6-1BE764CC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8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D5AA-1938-3EC7-FFC2-E24A4DFC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81241C2-A9DF-DB35-7B30-5D08FB20DC24}"/>
              </a:ext>
            </a:extLst>
          </p:cNvPr>
          <p:cNvSpPr txBox="1"/>
          <p:nvPr/>
        </p:nvSpPr>
        <p:spPr>
          <a:xfrm>
            <a:off x="912742" y="769928"/>
            <a:ext cx="10366513" cy="520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Our analysis covers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27,325 pensioners in Naypyitaw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who collectively receive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MMK 3.2 billion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in monthly salaries. The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average salary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is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MMK 104,060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 Key insights include: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Defense Sector Leads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Defense sector makes up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over half of all pensioners (52.3%)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They receive the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largest share of payouts (63.2% or MMK 2.0B)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Their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average salary (MMK 127,200)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is the highest among all groups.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Branch-Level Differences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Pyinmana branch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has the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largest number of pensioners (55.1%)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Pokebathiri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 branch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shows the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highest average salary (MMK 149,066)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mainly because it has more Defense pensioners, who are generally in higher salary brackets.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Salary Concentration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lnSpc>
                <a:spcPct val="200000"/>
              </a:lnSpc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Three out of four pensioners (75.8%) earn less than MMK 150,000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most common range is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MMK 50K–100K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covering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28.6% of pensioners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In summary: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The Naypyitaw pension system is strongly shaped by the Defense sector’s dominance in both numbers and payouts.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91709-0745-5B71-F258-B8D8A5A86C44}"/>
              </a:ext>
            </a:extLst>
          </p:cNvPr>
          <p:cNvSpPr txBox="1"/>
          <p:nvPr/>
        </p:nvSpPr>
        <p:spPr>
          <a:xfrm>
            <a:off x="604630" y="308113"/>
            <a:ext cx="462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Executive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05CB9E-93D4-2B4C-DB38-F1CDBA07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2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B24378-77DA-ACA6-BBB6-A47D9D70F3BD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3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8387-B499-1F11-4FF9-45A6D8BD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9F8B05-3068-A38D-C3CD-1F463951DFBE}"/>
              </a:ext>
            </a:extLst>
          </p:cNvPr>
          <p:cNvSpPr txBox="1"/>
          <p:nvPr/>
        </p:nvSpPr>
        <p:spPr>
          <a:xfrm>
            <a:off x="934277" y="779868"/>
            <a:ext cx="10366513" cy="416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This report presents a comprehensive analysis of pensioner distribution and salary patterns across Naypyitaw.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focus is on identifying how pensioners are distributed by group (Defense, Civil, Political), by branch, and across different salary ranges.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It highlights not only the scale of pension allocations but also the imbalances between pensioner groups and branches.</a:t>
            </a:r>
          </a:p>
          <a:p>
            <a:pPr>
              <a:lnSpc>
                <a:spcPct val="250000"/>
              </a:lnSpc>
            </a:pP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To provide a clear overview of the total pensioner population and salary expenditures.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To analyze the composition of pensioners by group and branch.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To compare average and total salaries across groups and branches.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To examine the distribution of pensioners by salary range.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To identify key patterns and disparities that may inform decision-making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357EAC-AF62-48B1-E116-172E182387FC}"/>
              </a:ext>
            </a:extLst>
          </p:cNvPr>
          <p:cNvSpPr txBox="1"/>
          <p:nvPr/>
        </p:nvSpPr>
        <p:spPr>
          <a:xfrm>
            <a:off x="604630" y="308113"/>
            <a:ext cx="4623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Introduction and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3B26E-24C7-0DD9-4C82-8CEA1FF5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3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8F04BF-390C-181E-1138-4C6A9EC7AAF2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23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B7BD0-C665-911F-862C-AB8B7255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49D955-A664-BEB6-668D-EF6E907D2626}"/>
              </a:ext>
            </a:extLst>
          </p:cNvPr>
          <p:cNvSpPr txBox="1"/>
          <p:nvPr/>
        </p:nvSpPr>
        <p:spPr>
          <a:xfrm>
            <a:off x="606436" y="301699"/>
            <a:ext cx="642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Over 27K Pensioners Receive MMK 3.2B in Naypyitaw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247FCA-6624-563C-9015-BD78F287DC42}"/>
              </a:ext>
            </a:extLst>
          </p:cNvPr>
          <p:cNvSpPr txBox="1"/>
          <p:nvPr/>
        </p:nvSpPr>
        <p:spPr>
          <a:xfrm>
            <a:off x="2017643" y="1701798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EF82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27,325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AC1DE3-69A2-5B5C-A3F0-01A5DCA00BBC}"/>
              </a:ext>
            </a:extLst>
          </p:cNvPr>
          <p:cNvSpPr txBox="1"/>
          <p:nvPr/>
        </p:nvSpPr>
        <p:spPr>
          <a:xfrm>
            <a:off x="1063488" y="1287489"/>
            <a:ext cx="2276060" cy="307777"/>
          </a:xfrm>
          <a:prstGeom prst="rect">
            <a:avLst/>
          </a:prstGeom>
          <a:solidFill>
            <a:srgbClr val="9AF4E5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Pensioners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2B82806-3863-FD3F-4099-8B708A296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426" y="1598541"/>
            <a:ext cx="914400" cy="898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8ACE28-5C9B-B046-8EBC-5B63C1677353}"/>
              </a:ext>
            </a:extLst>
          </p:cNvPr>
          <p:cNvSpPr txBox="1"/>
          <p:nvPr/>
        </p:nvSpPr>
        <p:spPr>
          <a:xfrm>
            <a:off x="7885043" y="1696273"/>
            <a:ext cx="2773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rgbClr val="EF822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MMK 3.2B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B790C-3004-2C6F-705C-4050DEDCEAC4}"/>
              </a:ext>
            </a:extLst>
          </p:cNvPr>
          <p:cNvSpPr txBox="1"/>
          <p:nvPr/>
        </p:nvSpPr>
        <p:spPr>
          <a:xfrm>
            <a:off x="7003773" y="1281027"/>
            <a:ext cx="2368827" cy="307774"/>
          </a:xfrm>
          <a:prstGeom prst="rect">
            <a:avLst/>
          </a:prstGeom>
          <a:solidFill>
            <a:srgbClr val="9AF4E5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en-US" dirty="0"/>
              <a:t>Total Salary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93EF1-04EF-0158-ABF7-1AD6F03CFFBF}"/>
              </a:ext>
            </a:extLst>
          </p:cNvPr>
          <p:cNvSpPr txBox="1"/>
          <p:nvPr/>
        </p:nvSpPr>
        <p:spPr>
          <a:xfrm>
            <a:off x="1997764" y="3810562"/>
            <a:ext cx="3627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rgbClr val="EF822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MMK 104,060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AAD7E-860D-9A0D-96D8-E184E937C3E5}"/>
              </a:ext>
            </a:extLst>
          </p:cNvPr>
          <p:cNvSpPr txBox="1"/>
          <p:nvPr/>
        </p:nvSpPr>
        <p:spPr>
          <a:xfrm>
            <a:off x="1073426" y="3445014"/>
            <a:ext cx="3747052" cy="307777"/>
          </a:xfrm>
          <a:prstGeom prst="rect">
            <a:avLst/>
          </a:prstGeom>
          <a:solidFill>
            <a:srgbClr val="9AF4E5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en-US" dirty="0"/>
              <a:t>Average Salary per Pensioner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71F0E12-8C8F-D12F-8594-1A849A1C5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522" y="1614549"/>
            <a:ext cx="894522" cy="889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EC1F55-17CF-ABAE-531D-37265A745657}"/>
              </a:ext>
            </a:extLst>
          </p:cNvPr>
          <p:cNvSpPr txBox="1"/>
          <p:nvPr/>
        </p:nvSpPr>
        <p:spPr>
          <a:xfrm>
            <a:off x="7885044" y="3780745"/>
            <a:ext cx="2975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rgbClr val="EF822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MMK 5.0M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CA120-07DF-BE6A-0E83-21553BEDCEBE}"/>
              </a:ext>
            </a:extLst>
          </p:cNvPr>
          <p:cNvSpPr txBox="1"/>
          <p:nvPr/>
        </p:nvSpPr>
        <p:spPr>
          <a:xfrm>
            <a:off x="7030276" y="3448878"/>
            <a:ext cx="3637721" cy="307777"/>
          </a:xfrm>
          <a:prstGeom prst="rect">
            <a:avLst/>
          </a:prstGeom>
          <a:solidFill>
            <a:srgbClr val="9AF4E5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en-US" dirty="0"/>
              <a:t>Maximum Salary of Pensioner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416EC9F-DE65-4A08-FD5E-26AE156BD7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3713" y="3746671"/>
            <a:ext cx="826573" cy="7315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40E5AF1-78AA-9EF5-46FD-C26EDD52E8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3243" y="3792342"/>
            <a:ext cx="894521" cy="733923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60E15DC-F182-2BB9-E6EF-CCC9085D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04373-3A6B-222C-F003-688BEBC095B4}"/>
              </a:ext>
            </a:extLst>
          </p:cNvPr>
          <p:cNvSpPr txBox="1"/>
          <p:nvPr/>
        </p:nvSpPr>
        <p:spPr>
          <a:xfrm>
            <a:off x="1063488" y="5033381"/>
            <a:ext cx="8693461" cy="888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27K pensioners rely on MMK 3.2B in pensions.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Most earn ~MMK 104K, though a few reach MMK 5M.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Highlights both reliance and inequality in pension distribution.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7413C9-6AA1-5D20-8EEF-E28C9BF24EFD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15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7E27-374C-8B31-EB8D-1495CBC6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E1F2D497-3B0E-8016-82F1-DC21BE9413C6}"/>
              </a:ext>
            </a:extLst>
          </p:cNvPr>
          <p:cNvSpPr txBox="1"/>
          <p:nvPr/>
        </p:nvSpPr>
        <p:spPr>
          <a:xfrm>
            <a:off x="863047" y="5332672"/>
            <a:ext cx="10724322" cy="834886"/>
          </a:xfrm>
          <a:prstGeom prst="rect">
            <a:avLst/>
          </a:prstGeom>
        </p:spPr>
        <p:txBody>
          <a:bodyPr wrap="square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200" dirty="0">
                <a:solidFill>
                  <a:srgbClr val="33333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Defense pensioners make up over half (52.3%) of all pensioners, receive nearly two-thirds of the total pension budget, and have the highest average salaries among all groups</a:t>
            </a:r>
            <a:endParaRPr lang="en-US" sz="1200" b="1" i="0" dirty="0"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8E68A6E-8706-B215-F583-F814E0BC3F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1013002"/>
              </p:ext>
            </p:extLst>
          </p:nvPr>
        </p:nvGraphicFramePr>
        <p:xfrm>
          <a:off x="765313" y="948081"/>
          <a:ext cx="3400990" cy="4306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0E51AEB-397A-DC73-C4BC-953291EC17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5609060"/>
              </p:ext>
            </p:extLst>
          </p:nvPr>
        </p:nvGraphicFramePr>
        <p:xfrm>
          <a:off x="4391589" y="948080"/>
          <a:ext cx="3294560" cy="430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77F3194-8A12-B966-5E2B-ACC3D374CE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6270307"/>
              </p:ext>
            </p:extLst>
          </p:nvPr>
        </p:nvGraphicFramePr>
        <p:xfrm>
          <a:off x="7948594" y="948081"/>
          <a:ext cx="3294561" cy="4306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09DD934-E9E0-9F30-8EA3-FCF773EF52C1}"/>
              </a:ext>
            </a:extLst>
          </p:cNvPr>
          <p:cNvSpPr txBox="1"/>
          <p:nvPr/>
        </p:nvSpPr>
        <p:spPr>
          <a:xfrm>
            <a:off x="604629" y="288234"/>
            <a:ext cx="1005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Defense Pension Group Leads in Pensioner Count, Budget Share, and Average Salary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4F54D34-4DE2-DE73-351D-930D8B80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5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6B94D4-A467-B7DA-BE85-C9EBE6AE7005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59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CAD3-053F-63D8-E1B2-FDB7CCF1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97BDAE4E-3CCE-A5A5-C3AB-E53419DE9E56}"/>
              </a:ext>
            </a:extLst>
          </p:cNvPr>
          <p:cNvSpPr txBox="1"/>
          <p:nvPr/>
        </p:nvSpPr>
        <p:spPr>
          <a:xfrm>
            <a:off x="911087" y="5147228"/>
            <a:ext cx="10101469" cy="816190"/>
          </a:xfrm>
          <a:prstGeom prst="rect">
            <a:avLst/>
          </a:prstGeom>
        </p:spPr>
        <p:txBody>
          <a:bodyPr wrap="square" rtlCol="0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Defense pensioners are concentrated in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Pokebathiri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Tatkone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branches, while Civil pensioners are more prevalent in Pyinmana and Lewe branches</a:t>
            </a:r>
            <a:endParaRPr lang="en-US" sz="1200" b="1" i="0" dirty="0">
              <a:solidFill>
                <a:srgbClr val="1F3C88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C9F103B-40FD-0DF3-44B1-9C77BF77D0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281400"/>
              </p:ext>
            </p:extLst>
          </p:nvPr>
        </p:nvGraphicFramePr>
        <p:xfrm>
          <a:off x="1057615" y="884533"/>
          <a:ext cx="7346372" cy="3916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A6381C-51A9-318A-EC0F-BEFB6656E4D3}"/>
              </a:ext>
            </a:extLst>
          </p:cNvPr>
          <p:cNvSpPr txBox="1"/>
          <p:nvPr/>
        </p:nvSpPr>
        <p:spPr>
          <a:xfrm>
            <a:off x="604630" y="298391"/>
            <a:ext cx="10060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Defense Pensioners Concentrated in </a:t>
            </a:r>
            <a:r>
              <a:rPr lang="en-US" dirty="0" err="1"/>
              <a:t>Pokebathiri</a:t>
            </a:r>
            <a:r>
              <a:rPr lang="en-US" dirty="0"/>
              <a:t> &amp; </a:t>
            </a:r>
            <a:r>
              <a:rPr lang="en-US" dirty="0" err="1"/>
              <a:t>Tatkone</a:t>
            </a:r>
            <a:r>
              <a:rPr lang="en-US" dirty="0"/>
              <a:t>; Civil in Pyinmana &amp; Lewe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69B603-79D4-8FFF-BFD4-4819EEF8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6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900EA6-73E4-8091-963E-BC18EFBF860E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98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18CE4-73A6-74D5-F5AB-A4BF0AE7C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520A4BC7-B9A2-3709-4DCE-DE50C4594BAD}"/>
              </a:ext>
            </a:extLst>
          </p:cNvPr>
          <p:cNvSpPr txBox="1"/>
          <p:nvPr/>
        </p:nvSpPr>
        <p:spPr>
          <a:xfrm>
            <a:off x="604630" y="291075"/>
            <a:ext cx="10973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Pyinmana Leads in Pensioner Count &amp; Total Salary; </a:t>
            </a:r>
            <a:r>
              <a:rPr lang="en-US" dirty="0" err="1"/>
              <a:t>Pokebathiri</a:t>
            </a:r>
            <a:r>
              <a:rPr lang="en-US" dirty="0"/>
              <a:t> Tops in Average Salary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EACA4C8-CB61-75AA-4BD0-DA535F6773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4655538"/>
              </p:ext>
            </p:extLst>
          </p:nvPr>
        </p:nvGraphicFramePr>
        <p:xfrm>
          <a:off x="844207" y="954156"/>
          <a:ext cx="3186753" cy="43483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8532E54-D311-3482-810A-0B90D805FF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586600"/>
              </p:ext>
            </p:extLst>
          </p:nvPr>
        </p:nvGraphicFramePr>
        <p:xfrm>
          <a:off x="4302502" y="954156"/>
          <a:ext cx="3427963" cy="4348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A83D4DC-DE4E-E63D-520C-D28052A4A3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7050662"/>
              </p:ext>
            </p:extLst>
          </p:nvPr>
        </p:nvGraphicFramePr>
        <p:xfrm>
          <a:off x="8002007" y="954156"/>
          <a:ext cx="3505847" cy="4348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0C7E080-3831-F93A-6C9C-F2B543EDAF6E}"/>
              </a:ext>
            </a:extLst>
          </p:cNvPr>
          <p:cNvSpPr txBox="1"/>
          <p:nvPr/>
        </p:nvSpPr>
        <p:spPr>
          <a:xfrm>
            <a:off x="1066796" y="5500735"/>
            <a:ext cx="9899374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Over half (55.1%) of pensioners belong to the Pyinmana branch, giving it the highest total pension disbursement. However, </a:t>
            </a:r>
            <a:r>
              <a:rPr lang="en-US" sz="1200" dirty="0" err="1">
                <a:latin typeface="Segoe UI" panose="020B0502040204020203" pitchFamily="34" charset="0"/>
                <a:cs typeface="Segoe UI" panose="020B0502040204020203" pitchFamily="34" charset="0"/>
              </a:rPr>
              <a:t>Pokebathiri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branch has the highest average salary, driven by its concentration of higher-paid Defense pensioners.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965361-16BB-D0B4-2B94-D4965C17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7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1BE5FB-9190-A426-9B65-91DDB0B5A25E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1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62A6A-1E41-7EDF-4008-8056D87B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BD427AA-24CA-B262-B15D-8F3EA9DBF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3792906"/>
              </p:ext>
            </p:extLst>
          </p:nvPr>
        </p:nvGraphicFramePr>
        <p:xfrm>
          <a:off x="780223" y="1044165"/>
          <a:ext cx="4939145" cy="3908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BC28259-C6D0-F69E-CB78-96DF2687A2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6129085"/>
              </p:ext>
            </p:extLst>
          </p:nvPr>
        </p:nvGraphicFramePr>
        <p:xfrm>
          <a:off x="6271592" y="1044165"/>
          <a:ext cx="5315777" cy="3908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FE08E5C-A8F2-144B-DFF2-DAB41F7F9CBF}"/>
              </a:ext>
            </a:extLst>
          </p:cNvPr>
          <p:cNvSpPr txBox="1"/>
          <p:nvPr/>
        </p:nvSpPr>
        <p:spPr>
          <a:xfrm>
            <a:off x="604630" y="308439"/>
            <a:ext cx="1040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Most Pensioners Earn Below MMK 150K; 100K–150K Range Drives the Largest Salary Share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E1CEC-6252-0BF1-4F5F-B01494386419}"/>
              </a:ext>
            </a:extLst>
          </p:cNvPr>
          <p:cNvSpPr txBox="1"/>
          <p:nvPr/>
        </p:nvSpPr>
        <p:spPr>
          <a:xfrm>
            <a:off x="780223" y="5256276"/>
            <a:ext cx="10515600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Nearly three-quarters (75.8%) of pensioners earn between MMK 0–150,000, with the MMK 100,000–150,000 range contributing the largest share of total salary (28.9%)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D832F-5DA5-98BC-2A3E-CD35F6D3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8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BDF1DD-9A06-F854-2B2D-AFCB511DF2DB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12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86A5-C6F3-B0E6-D1A0-D86E267E7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4545BE3-8224-946D-40FC-04D21F2DA5BF}"/>
              </a:ext>
            </a:extLst>
          </p:cNvPr>
          <p:cNvSpPr txBox="1"/>
          <p:nvPr/>
        </p:nvSpPr>
        <p:spPr>
          <a:xfrm>
            <a:off x="604631" y="298391"/>
            <a:ext cx="640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6EE33-3D22-F1E6-13E1-66B24C2E8686}"/>
              </a:ext>
            </a:extLst>
          </p:cNvPr>
          <p:cNvSpPr txBox="1"/>
          <p:nvPr/>
        </p:nvSpPr>
        <p:spPr>
          <a:xfrm>
            <a:off x="604630" y="775256"/>
            <a:ext cx="10765735" cy="370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The analysis of pension distribution in Naypyitaw reveals several key patterns.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Defense pensioners dominate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both in numbers and budget share, making up over half of all pensioners and receiving nearly two-thirds of the pension budget. 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While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Pyinmana branch accounts for the majority of pensioners and the highest total salary disbursement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Pokebathiri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 branch leads in average salary levels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driven by its concentration of high-salary Defense pensioners.</a:t>
            </a:r>
          </a:p>
          <a:p>
            <a:pPr marL="171450" indent="-1714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In terms of earnings, </a:t>
            </a:r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the majority of pensioners (75.8%) fall within the MMK 0–150,000 salary range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, with the MMK 100,000–150,000 segment contributing the largest share of total salary. This highlights the reliance of the pension system on lower to mid-level pension payments, while only a small proportion of pensioners earn higher salaries.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6EA4A-895F-982F-2482-E7EABE3F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9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8475CF-706D-D357-9F8D-86B67B3910FD}"/>
              </a:ext>
            </a:extLst>
          </p:cNvPr>
          <p:cNvCxnSpPr/>
          <p:nvPr/>
        </p:nvCxnSpPr>
        <p:spPr>
          <a:xfrm>
            <a:off x="613591" y="690465"/>
            <a:ext cx="10964818" cy="0"/>
          </a:xfrm>
          <a:prstGeom prst="line">
            <a:avLst/>
          </a:prstGeom>
          <a:ln w="38100">
            <a:solidFill>
              <a:srgbClr val="1095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8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B33B-F46B-E855-B7B0-90237D30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B9B55C-949B-487C-096D-F0C3F7EC4000}"/>
              </a:ext>
            </a:extLst>
          </p:cNvPr>
          <p:cNvSpPr txBox="1"/>
          <p:nvPr/>
        </p:nvSpPr>
        <p:spPr>
          <a:xfrm>
            <a:off x="3765274" y="2274838"/>
            <a:ext cx="46614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095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70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124A7-4EA9-9A8A-B987-48A2E81E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235B21D-7B2D-4257-8AC0-2F7E4324FC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1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867</Words>
  <Application>Microsoft Office PowerPoint</Application>
  <PresentationFormat>Widescreen</PresentationFormat>
  <Paragraphs>94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 Ko Aung</dc:creator>
  <cp:lastModifiedBy>Ko Ko Aung</cp:lastModifiedBy>
  <cp:revision>264</cp:revision>
  <dcterms:created xsi:type="dcterms:W3CDTF">2025-09-22T15:09:18Z</dcterms:created>
  <dcterms:modified xsi:type="dcterms:W3CDTF">2025-10-17T03:17:25Z</dcterms:modified>
</cp:coreProperties>
</file>